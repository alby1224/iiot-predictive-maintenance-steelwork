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75" r:id="rId4"/>
    <p:sldId id="259" r:id="rId5"/>
    <p:sldId id="268" r:id="rId6"/>
    <p:sldId id="261" r:id="rId7"/>
    <p:sldId id="262" r:id="rId8"/>
    <p:sldId id="263" r:id="rId9"/>
    <p:sldId id="264" r:id="rId10"/>
    <p:sldId id="269" r:id="rId11"/>
    <p:sldId id="270" r:id="rId12"/>
    <p:sldId id="271" r:id="rId13"/>
    <p:sldId id="266" r:id="rId14"/>
    <p:sldId id="274" r:id="rId15"/>
    <p:sldId id="267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26AE21-3A3B-4651-B162-D4423698838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576C93F-AC3A-4681-9B25-8C8FDD8228A6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cap="none" dirty="0" err="1">
              <a:latin typeface="Arial" panose="020B0604020202020204" pitchFamily="34" charset="0"/>
              <a:cs typeface="Arial" panose="020B0604020202020204" pitchFamily="34" charset="0"/>
            </a:rPr>
            <a:t>risultati</a:t>
          </a:r>
          <a:r>
            <a:rPr lang="en-US" sz="1800" cap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cap="none" dirty="0" err="1">
              <a:latin typeface="Arial" panose="020B0604020202020204" pitchFamily="34" charset="0"/>
              <a:cs typeface="Arial" panose="020B0604020202020204" pitchFamily="34" charset="0"/>
            </a:rPr>
            <a:t>più</a:t>
          </a:r>
          <a:r>
            <a:rPr lang="en-US" sz="1800" cap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cap="none" dirty="0" err="1">
              <a:latin typeface="Arial" panose="020B0604020202020204" pitchFamily="34" charset="0"/>
              <a:cs typeface="Arial" panose="020B0604020202020204" pitchFamily="34" charset="0"/>
            </a:rPr>
            <a:t>che</a:t>
          </a:r>
          <a:r>
            <a:rPr lang="en-US" sz="1800" cap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cap="none" dirty="0" err="1">
              <a:latin typeface="Arial" panose="020B0604020202020204" pitchFamily="34" charset="0"/>
              <a:cs typeface="Arial" panose="020B0604020202020204" pitchFamily="34" charset="0"/>
            </a:rPr>
            <a:t>soddisfacienti</a:t>
          </a:r>
          <a:r>
            <a:rPr lang="en-US" sz="1800" cap="none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800" cap="none" dirty="0" err="1">
              <a:latin typeface="Arial" panose="020B0604020202020204" pitchFamily="34" charset="0"/>
              <a:cs typeface="Arial" panose="020B0604020202020204" pitchFamily="34" charset="0"/>
            </a:rPr>
            <a:t>anche</a:t>
          </a:r>
          <a:r>
            <a:rPr lang="en-US" sz="1800" cap="none" dirty="0">
              <a:latin typeface="Arial" panose="020B0604020202020204" pitchFamily="34" charset="0"/>
              <a:cs typeface="Arial" panose="020B0604020202020204" pitchFamily="34" charset="0"/>
            </a:rPr>
            <a:t> se </a:t>
          </a:r>
          <a:r>
            <a:rPr lang="en-US" sz="1800" cap="none" dirty="0" err="1">
              <a:latin typeface="Arial" panose="020B0604020202020204" pitchFamily="34" charset="0"/>
              <a:cs typeface="Arial" panose="020B0604020202020204" pitchFamily="34" charset="0"/>
            </a:rPr>
            <a:t>più</a:t>
          </a:r>
          <a:r>
            <a:rPr lang="en-US" sz="1800" cap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cap="none" dirty="0" err="1">
              <a:latin typeface="Arial" panose="020B0604020202020204" pitchFamily="34" charset="0"/>
              <a:cs typeface="Arial" panose="020B0604020202020204" pitchFamily="34" charset="0"/>
            </a:rPr>
            <a:t>laborioso</a:t>
          </a:r>
          <a:r>
            <a:rPr lang="en-US" sz="1800" cap="none" dirty="0">
              <a:latin typeface="Arial" panose="020B0604020202020204" pitchFamily="34" charset="0"/>
              <a:cs typeface="Arial" panose="020B0604020202020204" pitchFamily="34" charset="0"/>
            </a:rPr>
            <a:t> e </a:t>
          </a:r>
          <a:r>
            <a:rPr lang="en-US" sz="1800" cap="none" dirty="0" err="1">
              <a:latin typeface="Arial" panose="020B0604020202020204" pitchFamily="34" charset="0"/>
              <a:cs typeface="Arial" panose="020B0604020202020204" pitchFamily="34" charset="0"/>
            </a:rPr>
            <a:t>meno</a:t>
          </a:r>
          <a:r>
            <a:rPr lang="en-US" sz="1800" cap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cap="none" dirty="0" err="1">
              <a:latin typeface="Arial" panose="020B0604020202020204" pitchFamily="34" charset="0"/>
              <a:cs typeface="Arial" panose="020B0604020202020204" pitchFamily="34" charset="0"/>
            </a:rPr>
            <a:t>efficiente</a:t>
          </a:r>
          <a:r>
            <a:rPr lang="en-US" sz="1800" cap="none" dirty="0">
              <a:latin typeface="Arial" panose="020B0604020202020204" pitchFamily="34" charset="0"/>
              <a:cs typeface="Arial" panose="020B0604020202020204" pitchFamily="34" charset="0"/>
            </a:rPr>
            <a:t> di software a </a:t>
          </a:r>
          <a:r>
            <a:rPr lang="en-US" sz="1800" cap="none" dirty="0" err="1">
              <a:latin typeface="Arial" panose="020B0604020202020204" pitchFamily="34" charset="0"/>
              <a:cs typeface="Arial" panose="020B0604020202020204" pitchFamily="34" charset="0"/>
            </a:rPr>
            <a:t>pagamento</a:t>
          </a:r>
          <a:endParaRPr lang="en-US" sz="1800" cap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7B6D340-5821-4808-9C08-5A7B4583C428}" type="parTrans" cxnId="{9E17D284-2814-4B09-9EE1-0BBD8E9A9431}">
      <dgm:prSet/>
      <dgm:spPr/>
      <dgm:t>
        <a:bodyPr/>
        <a:lstStyle/>
        <a:p>
          <a:endParaRPr lang="en-US"/>
        </a:p>
      </dgm:t>
    </dgm:pt>
    <dgm:pt modelId="{447F2047-38CA-4E6D-BB96-74276F1DF939}" type="sibTrans" cxnId="{9E17D284-2814-4B09-9EE1-0BBD8E9A9431}">
      <dgm:prSet/>
      <dgm:spPr/>
      <dgm:t>
        <a:bodyPr/>
        <a:lstStyle/>
        <a:p>
          <a:endParaRPr lang="en-US"/>
        </a:p>
      </dgm:t>
    </dgm:pt>
    <dgm:pt modelId="{1A06DE78-1C69-402F-BDC7-726EF9F0B35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sz="1800" b="0" i="0" cap="none" baseline="0" dirty="0">
              <a:latin typeface="Arial" panose="020B0604020202020204" pitchFamily="34" charset="0"/>
              <a:cs typeface="Arial" panose="020B0604020202020204" pitchFamily="34" charset="0"/>
            </a:rPr>
            <a:t>feedback positivo da parte di AIC e clienti, in particolare sulla grafica e l’integrazione con i dispositivi</a:t>
          </a:r>
          <a:endParaRPr lang="en-US" sz="1800" cap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8815FF-8FD5-4143-9A87-C80094C2EA1F}" type="parTrans" cxnId="{65618427-2A6F-4CC4-857B-C21A739AA69C}">
      <dgm:prSet/>
      <dgm:spPr/>
      <dgm:t>
        <a:bodyPr/>
        <a:lstStyle/>
        <a:p>
          <a:endParaRPr lang="en-US"/>
        </a:p>
      </dgm:t>
    </dgm:pt>
    <dgm:pt modelId="{86F09AA5-E573-48A5-99E3-4F4170A855CC}" type="sibTrans" cxnId="{65618427-2A6F-4CC4-857B-C21A739AA69C}">
      <dgm:prSet/>
      <dgm:spPr/>
      <dgm:t>
        <a:bodyPr/>
        <a:lstStyle/>
        <a:p>
          <a:endParaRPr lang="en-US"/>
        </a:p>
      </dgm:t>
    </dgm:pt>
    <dgm:pt modelId="{99607F4A-7620-49AD-8985-FA95D3155ADC}" type="pres">
      <dgm:prSet presAssocID="{E826AE21-3A3B-4651-B162-D44236988389}" presName="root" presStyleCnt="0">
        <dgm:presLayoutVars>
          <dgm:dir/>
          <dgm:resizeHandles val="exact"/>
        </dgm:presLayoutVars>
      </dgm:prSet>
      <dgm:spPr/>
    </dgm:pt>
    <dgm:pt modelId="{51F2D5E7-4ACA-4146-9548-449C8875751C}" type="pres">
      <dgm:prSet presAssocID="{0576C93F-AC3A-4681-9B25-8C8FDD8228A6}" presName="compNode" presStyleCnt="0"/>
      <dgm:spPr/>
    </dgm:pt>
    <dgm:pt modelId="{3F2B87A2-265F-4C13-8E1A-790092AC32C7}" type="pres">
      <dgm:prSet presAssocID="{0576C93F-AC3A-4681-9B25-8C8FDD8228A6}" presName="iconBgRect" presStyleLbl="bgShp" presStyleIdx="0" presStyleCnt="2"/>
      <dgm:spPr/>
    </dgm:pt>
    <dgm:pt modelId="{2456E61E-BDCA-4BF4-B99A-F67446EF35C9}" type="pres">
      <dgm:prSet presAssocID="{0576C93F-AC3A-4681-9B25-8C8FDD8228A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zione con grafico a torta con riempimento a tinta unita"/>
        </a:ext>
      </dgm:extLst>
    </dgm:pt>
    <dgm:pt modelId="{CA81F90E-D2F5-4D51-91F4-55BD70A92A97}" type="pres">
      <dgm:prSet presAssocID="{0576C93F-AC3A-4681-9B25-8C8FDD8228A6}" presName="spaceRect" presStyleCnt="0"/>
      <dgm:spPr/>
    </dgm:pt>
    <dgm:pt modelId="{5242045B-2A48-4625-9369-AFC4E4D79548}" type="pres">
      <dgm:prSet presAssocID="{0576C93F-AC3A-4681-9B25-8C8FDD8228A6}" presName="textRect" presStyleLbl="revTx" presStyleIdx="0" presStyleCnt="2" custScaleX="115535" custLinFactNeighborX="597" custLinFactNeighborY="-38953">
        <dgm:presLayoutVars>
          <dgm:chMax val="1"/>
          <dgm:chPref val="1"/>
        </dgm:presLayoutVars>
      </dgm:prSet>
      <dgm:spPr/>
    </dgm:pt>
    <dgm:pt modelId="{1B316234-F02D-4D3E-8AA9-9477595017AD}" type="pres">
      <dgm:prSet presAssocID="{447F2047-38CA-4E6D-BB96-74276F1DF939}" presName="sibTrans" presStyleCnt="0"/>
      <dgm:spPr/>
    </dgm:pt>
    <dgm:pt modelId="{8589ADFB-D291-4B20-878D-2A810B9698F2}" type="pres">
      <dgm:prSet presAssocID="{1A06DE78-1C69-402F-BDC7-726EF9F0B357}" presName="compNode" presStyleCnt="0"/>
      <dgm:spPr/>
    </dgm:pt>
    <dgm:pt modelId="{ED3EE1BA-EEDC-4C5D-AB7D-CB764A3A6804}" type="pres">
      <dgm:prSet presAssocID="{1A06DE78-1C69-402F-BDC7-726EF9F0B357}" presName="iconBgRect" presStyleLbl="bgShp" presStyleIdx="1" presStyleCnt="2"/>
      <dgm:spPr/>
    </dgm:pt>
    <dgm:pt modelId="{62D130BC-7528-4DEA-B538-83F54D327FFB}" type="pres">
      <dgm:prSet presAssocID="{1A06DE78-1C69-402F-BDC7-726EF9F0B35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EAEFA722-5751-4B7A-8244-9AADD1424D74}" type="pres">
      <dgm:prSet presAssocID="{1A06DE78-1C69-402F-BDC7-726EF9F0B357}" presName="spaceRect" presStyleCnt="0"/>
      <dgm:spPr/>
    </dgm:pt>
    <dgm:pt modelId="{7590F046-A09F-4114-835D-2C18F4CB4343}" type="pres">
      <dgm:prSet presAssocID="{1A06DE78-1C69-402F-BDC7-726EF9F0B357}" presName="textRect" presStyleLbl="revTx" presStyleIdx="1" presStyleCnt="2" custScaleX="116073" custLinFactNeighborX="2011" custLinFactNeighborY="-38953">
        <dgm:presLayoutVars>
          <dgm:chMax val="1"/>
          <dgm:chPref val="1"/>
        </dgm:presLayoutVars>
      </dgm:prSet>
      <dgm:spPr/>
    </dgm:pt>
  </dgm:ptLst>
  <dgm:cxnLst>
    <dgm:cxn modelId="{652B430D-B65B-49E4-88E7-15E1E13762EB}" type="presOf" srcId="{1A06DE78-1C69-402F-BDC7-726EF9F0B357}" destId="{7590F046-A09F-4114-835D-2C18F4CB4343}" srcOrd="0" destOrd="0" presId="urn:microsoft.com/office/officeart/2018/5/layout/IconCircleLabelList"/>
    <dgm:cxn modelId="{65618427-2A6F-4CC4-857B-C21A739AA69C}" srcId="{E826AE21-3A3B-4651-B162-D44236988389}" destId="{1A06DE78-1C69-402F-BDC7-726EF9F0B357}" srcOrd="1" destOrd="0" parTransId="{F38815FF-8FD5-4143-9A87-C80094C2EA1F}" sibTransId="{86F09AA5-E573-48A5-99E3-4F4170A855CC}"/>
    <dgm:cxn modelId="{04364A84-46EA-4EC8-AC34-75A6FB392608}" type="presOf" srcId="{E826AE21-3A3B-4651-B162-D44236988389}" destId="{99607F4A-7620-49AD-8985-FA95D3155ADC}" srcOrd="0" destOrd="0" presId="urn:microsoft.com/office/officeart/2018/5/layout/IconCircleLabelList"/>
    <dgm:cxn modelId="{9E17D284-2814-4B09-9EE1-0BBD8E9A9431}" srcId="{E826AE21-3A3B-4651-B162-D44236988389}" destId="{0576C93F-AC3A-4681-9B25-8C8FDD8228A6}" srcOrd="0" destOrd="0" parTransId="{B7B6D340-5821-4808-9C08-5A7B4583C428}" sibTransId="{447F2047-38CA-4E6D-BB96-74276F1DF939}"/>
    <dgm:cxn modelId="{D3DCF5C3-427A-4F3C-9D60-DE033E03B1C1}" type="presOf" srcId="{0576C93F-AC3A-4681-9B25-8C8FDD8228A6}" destId="{5242045B-2A48-4625-9369-AFC4E4D79548}" srcOrd="0" destOrd="0" presId="urn:microsoft.com/office/officeart/2018/5/layout/IconCircleLabelList"/>
    <dgm:cxn modelId="{14B7F989-680E-4386-8B64-7684E23E21DD}" type="presParOf" srcId="{99607F4A-7620-49AD-8985-FA95D3155ADC}" destId="{51F2D5E7-4ACA-4146-9548-449C8875751C}" srcOrd="0" destOrd="0" presId="urn:microsoft.com/office/officeart/2018/5/layout/IconCircleLabelList"/>
    <dgm:cxn modelId="{C3851869-BFAB-4F4A-9A2E-F77ABD2EAD7E}" type="presParOf" srcId="{51F2D5E7-4ACA-4146-9548-449C8875751C}" destId="{3F2B87A2-265F-4C13-8E1A-790092AC32C7}" srcOrd="0" destOrd="0" presId="urn:microsoft.com/office/officeart/2018/5/layout/IconCircleLabelList"/>
    <dgm:cxn modelId="{1D9C29E1-C5D6-4334-8B29-27626E0F7EFE}" type="presParOf" srcId="{51F2D5E7-4ACA-4146-9548-449C8875751C}" destId="{2456E61E-BDCA-4BF4-B99A-F67446EF35C9}" srcOrd="1" destOrd="0" presId="urn:microsoft.com/office/officeart/2018/5/layout/IconCircleLabelList"/>
    <dgm:cxn modelId="{79645A15-8A33-4AE7-9FAF-C2CF88B17AAD}" type="presParOf" srcId="{51F2D5E7-4ACA-4146-9548-449C8875751C}" destId="{CA81F90E-D2F5-4D51-91F4-55BD70A92A97}" srcOrd="2" destOrd="0" presId="urn:microsoft.com/office/officeart/2018/5/layout/IconCircleLabelList"/>
    <dgm:cxn modelId="{501830B6-9618-4DB6-980A-35BAE854FA7C}" type="presParOf" srcId="{51F2D5E7-4ACA-4146-9548-449C8875751C}" destId="{5242045B-2A48-4625-9369-AFC4E4D79548}" srcOrd="3" destOrd="0" presId="urn:microsoft.com/office/officeart/2018/5/layout/IconCircleLabelList"/>
    <dgm:cxn modelId="{48765A4E-AF1A-4870-BE44-EA7B37CAD3B7}" type="presParOf" srcId="{99607F4A-7620-49AD-8985-FA95D3155ADC}" destId="{1B316234-F02D-4D3E-8AA9-9477595017AD}" srcOrd="1" destOrd="0" presId="urn:microsoft.com/office/officeart/2018/5/layout/IconCircleLabelList"/>
    <dgm:cxn modelId="{11B1BE0F-1E90-4BEA-A338-C031F8EBC1A3}" type="presParOf" srcId="{99607F4A-7620-49AD-8985-FA95D3155ADC}" destId="{8589ADFB-D291-4B20-878D-2A810B9698F2}" srcOrd="2" destOrd="0" presId="urn:microsoft.com/office/officeart/2018/5/layout/IconCircleLabelList"/>
    <dgm:cxn modelId="{B630B75B-5D46-435B-BFEC-C08545104A25}" type="presParOf" srcId="{8589ADFB-D291-4B20-878D-2A810B9698F2}" destId="{ED3EE1BA-EEDC-4C5D-AB7D-CB764A3A6804}" srcOrd="0" destOrd="0" presId="urn:microsoft.com/office/officeart/2018/5/layout/IconCircleLabelList"/>
    <dgm:cxn modelId="{A38C9440-7C5F-46EA-B6B3-6B064924CF30}" type="presParOf" srcId="{8589ADFB-D291-4B20-878D-2A810B9698F2}" destId="{62D130BC-7528-4DEA-B538-83F54D327FFB}" srcOrd="1" destOrd="0" presId="urn:microsoft.com/office/officeart/2018/5/layout/IconCircleLabelList"/>
    <dgm:cxn modelId="{633E46EE-E14F-48DD-B3BF-84509D88C694}" type="presParOf" srcId="{8589ADFB-D291-4B20-878D-2A810B9698F2}" destId="{EAEFA722-5751-4B7A-8244-9AADD1424D74}" srcOrd="2" destOrd="0" presId="urn:microsoft.com/office/officeart/2018/5/layout/IconCircleLabelList"/>
    <dgm:cxn modelId="{29B06BF9-0F83-4B8E-85DB-DCC68CF6BC1C}" type="presParOf" srcId="{8589ADFB-D291-4B20-878D-2A810B9698F2}" destId="{7590F046-A09F-4114-835D-2C18F4CB434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26AE21-3A3B-4651-B162-D4423698838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576C93F-AC3A-4681-9B25-8C8FDD8228A6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sz="2200" cap="none" dirty="0">
              <a:latin typeface="Arial" panose="020B0604020202020204" pitchFamily="34" charset="0"/>
              <a:cs typeface="Arial" panose="020B0604020202020204" pitchFamily="34" charset="0"/>
            </a:rPr>
            <a:t>integrare ulteriori sensori e tecnologie  </a:t>
          </a:r>
          <a:endParaRPr lang="en-US" sz="2200" cap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7B6D340-5821-4808-9C08-5A7B4583C428}" type="parTrans" cxnId="{9E17D284-2814-4B09-9EE1-0BBD8E9A9431}">
      <dgm:prSet/>
      <dgm:spPr/>
      <dgm:t>
        <a:bodyPr/>
        <a:lstStyle/>
        <a:p>
          <a:endParaRPr lang="en-US"/>
        </a:p>
      </dgm:t>
    </dgm:pt>
    <dgm:pt modelId="{447F2047-38CA-4E6D-BB96-74276F1DF939}" type="sibTrans" cxnId="{9E17D284-2814-4B09-9EE1-0BBD8E9A9431}">
      <dgm:prSet/>
      <dgm:spPr/>
      <dgm:t>
        <a:bodyPr/>
        <a:lstStyle/>
        <a:p>
          <a:endParaRPr lang="en-US"/>
        </a:p>
      </dgm:t>
    </dgm:pt>
    <dgm:pt modelId="{1A06DE78-1C69-402F-BDC7-726EF9F0B35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sz="2200" cap="none" dirty="0">
              <a:latin typeface="Arial" panose="020B0604020202020204" pitchFamily="34" charset="0"/>
              <a:cs typeface="Arial" panose="020B0604020202020204" pitchFamily="34" charset="0"/>
            </a:rPr>
            <a:t>esplorazione di algoritmi di machine learning</a:t>
          </a:r>
          <a:endParaRPr lang="en-US" sz="2200" cap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8815FF-8FD5-4143-9A87-C80094C2EA1F}" type="parTrans" cxnId="{65618427-2A6F-4CC4-857B-C21A739AA69C}">
      <dgm:prSet/>
      <dgm:spPr/>
      <dgm:t>
        <a:bodyPr/>
        <a:lstStyle/>
        <a:p>
          <a:endParaRPr lang="en-US"/>
        </a:p>
      </dgm:t>
    </dgm:pt>
    <dgm:pt modelId="{86F09AA5-E573-48A5-99E3-4F4170A855CC}" type="sibTrans" cxnId="{65618427-2A6F-4CC4-857B-C21A739AA69C}">
      <dgm:prSet/>
      <dgm:spPr/>
      <dgm:t>
        <a:bodyPr/>
        <a:lstStyle/>
        <a:p>
          <a:endParaRPr lang="en-US"/>
        </a:p>
      </dgm:t>
    </dgm:pt>
    <dgm:pt modelId="{01FC6E8C-EE85-4434-B19B-8454FDA72A5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2200" dirty="0">
              <a:latin typeface="Arial" panose="020B0604020202020204" pitchFamily="34" charset="0"/>
              <a:cs typeface="Arial" panose="020B0604020202020204" pitchFamily="34" charset="0"/>
            </a:rPr>
            <a:t>testare il sistema ambiente reale</a:t>
          </a:r>
        </a:p>
      </dgm:t>
    </dgm:pt>
    <dgm:pt modelId="{494019C6-30CF-4E56-B69E-789858B21801}" type="parTrans" cxnId="{760B19FC-33D7-414D-8F96-5BA0D08F37E0}">
      <dgm:prSet/>
      <dgm:spPr/>
      <dgm:t>
        <a:bodyPr/>
        <a:lstStyle/>
        <a:p>
          <a:endParaRPr lang="it-IT"/>
        </a:p>
      </dgm:t>
    </dgm:pt>
    <dgm:pt modelId="{A0EAD932-3C0D-4BA4-B627-A86E4166579E}" type="sibTrans" cxnId="{760B19FC-33D7-414D-8F96-5BA0D08F37E0}">
      <dgm:prSet/>
      <dgm:spPr/>
      <dgm:t>
        <a:bodyPr/>
        <a:lstStyle/>
        <a:p>
          <a:endParaRPr lang="it-IT"/>
        </a:p>
      </dgm:t>
    </dgm:pt>
    <dgm:pt modelId="{99607F4A-7620-49AD-8985-FA95D3155ADC}" type="pres">
      <dgm:prSet presAssocID="{E826AE21-3A3B-4651-B162-D44236988389}" presName="root" presStyleCnt="0">
        <dgm:presLayoutVars>
          <dgm:dir/>
          <dgm:resizeHandles val="exact"/>
        </dgm:presLayoutVars>
      </dgm:prSet>
      <dgm:spPr/>
    </dgm:pt>
    <dgm:pt modelId="{15813227-953D-4974-9C5E-4DA6615CA4F0}" type="pres">
      <dgm:prSet presAssocID="{01FC6E8C-EE85-4434-B19B-8454FDA72A52}" presName="compNode" presStyleCnt="0"/>
      <dgm:spPr/>
    </dgm:pt>
    <dgm:pt modelId="{D3C545B6-972A-454B-9116-64590836B6FF}" type="pres">
      <dgm:prSet presAssocID="{01FC6E8C-EE85-4434-B19B-8454FDA72A52}" presName="iconBgRect" presStyleLbl="bgShp" presStyleIdx="0" presStyleCnt="3"/>
      <dgm:spPr/>
    </dgm:pt>
    <dgm:pt modelId="{1900F5EB-3C49-4CD7-A1DC-16B604082C29}" type="pres">
      <dgm:prSet presAssocID="{01FC6E8C-EE85-4434-B19B-8454FDA72A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nco di controllo con riempimento a tinta unita"/>
        </a:ext>
      </dgm:extLst>
    </dgm:pt>
    <dgm:pt modelId="{9F6B49E7-2D91-4AE4-9A29-11488178600D}" type="pres">
      <dgm:prSet presAssocID="{01FC6E8C-EE85-4434-B19B-8454FDA72A52}" presName="spaceRect" presStyleCnt="0"/>
      <dgm:spPr/>
    </dgm:pt>
    <dgm:pt modelId="{ECE36709-2A5E-4E28-B7CE-6B132A7CACAF}" type="pres">
      <dgm:prSet presAssocID="{01FC6E8C-EE85-4434-B19B-8454FDA72A52}" presName="textRect" presStyleLbl="revTx" presStyleIdx="0" presStyleCnt="3" custLinFactNeighborY="-24931">
        <dgm:presLayoutVars>
          <dgm:chMax val="1"/>
          <dgm:chPref val="1"/>
        </dgm:presLayoutVars>
      </dgm:prSet>
      <dgm:spPr/>
    </dgm:pt>
    <dgm:pt modelId="{192B88F3-452B-4534-96CA-FCE185C5D1E3}" type="pres">
      <dgm:prSet presAssocID="{A0EAD932-3C0D-4BA4-B627-A86E4166579E}" presName="sibTrans" presStyleCnt="0"/>
      <dgm:spPr/>
    </dgm:pt>
    <dgm:pt modelId="{51F2D5E7-4ACA-4146-9548-449C8875751C}" type="pres">
      <dgm:prSet presAssocID="{0576C93F-AC3A-4681-9B25-8C8FDD8228A6}" presName="compNode" presStyleCnt="0"/>
      <dgm:spPr/>
    </dgm:pt>
    <dgm:pt modelId="{3F2B87A2-265F-4C13-8E1A-790092AC32C7}" type="pres">
      <dgm:prSet presAssocID="{0576C93F-AC3A-4681-9B25-8C8FDD8228A6}" presName="iconBgRect" presStyleLbl="bgShp" presStyleIdx="1" presStyleCnt="3"/>
      <dgm:spPr/>
    </dgm:pt>
    <dgm:pt modelId="{2456E61E-BDCA-4BF4-B99A-F67446EF35C9}" type="pres">
      <dgm:prSet presAssocID="{0576C93F-AC3A-4681-9B25-8C8FDD8228A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tenna con riempimento a tinta unita"/>
        </a:ext>
      </dgm:extLst>
    </dgm:pt>
    <dgm:pt modelId="{CA81F90E-D2F5-4D51-91F4-55BD70A92A97}" type="pres">
      <dgm:prSet presAssocID="{0576C93F-AC3A-4681-9B25-8C8FDD8228A6}" presName="spaceRect" presStyleCnt="0"/>
      <dgm:spPr/>
    </dgm:pt>
    <dgm:pt modelId="{5242045B-2A48-4625-9369-AFC4E4D79548}" type="pres">
      <dgm:prSet presAssocID="{0576C93F-AC3A-4681-9B25-8C8FDD8228A6}" presName="textRect" presStyleLbl="revTx" presStyleIdx="1" presStyleCnt="3" custLinFactNeighborX="1675" custLinFactNeighborY="-24931">
        <dgm:presLayoutVars>
          <dgm:chMax val="1"/>
          <dgm:chPref val="1"/>
        </dgm:presLayoutVars>
      </dgm:prSet>
      <dgm:spPr/>
    </dgm:pt>
    <dgm:pt modelId="{1B316234-F02D-4D3E-8AA9-9477595017AD}" type="pres">
      <dgm:prSet presAssocID="{447F2047-38CA-4E6D-BB96-74276F1DF939}" presName="sibTrans" presStyleCnt="0"/>
      <dgm:spPr/>
    </dgm:pt>
    <dgm:pt modelId="{8589ADFB-D291-4B20-878D-2A810B9698F2}" type="pres">
      <dgm:prSet presAssocID="{1A06DE78-1C69-402F-BDC7-726EF9F0B357}" presName="compNode" presStyleCnt="0"/>
      <dgm:spPr/>
    </dgm:pt>
    <dgm:pt modelId="{ED3EE1BA-EEDC-4C5D-AB7D-CB764A3A6804}" type="pres">
      <dgm:prSet presAssocID="{1A06DE78-1C69-402F-BDC7-726EF9F0B357}" presName="iconBgRect" presStyleLbl="bgShp" presStyleIdx="2" presStyleCnt="3"/>
      <dgm:spPr/>
    </dgm:pt>
    <dgm:pt modelId="{62D130BC-7528-4DEA-B538-83F54D327FFB}" type="pres">
      <dgm:prSet presAssocID="{1A06DE78-1C69-402F-BDC7-726EF9F0B3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cerca con riempimento a tinta unita"/>
        </a:ext>
      </dgm:extLst>
    </dgm:pt>
    <dgm:pt modelId="{EAEFA722-5751-4B7A-8244-9AADD1424D74}" type="pres">
      <dgm:prSet presAssocID="{1A06DE78-1C69-402F-BDC7-726EF9F0B357}" presName="spaceRect" presStyleCnt="0"/>
      <dgm:spPr/>
    </dgm:pt>
    <dgm:pt modelId="{7590F046-A09F-4114-835D-2C18F4CB4343}" type="pres">
      <dgm:prSet presAssocID="{1A06DE78-1C69-402F-BDC7-726EF9F0B357}" presName="textRect" presStyleLbl="revTx" presStyleIdx="2" presStyleCnt="3" custScaleX="116812" custLinFactNeighborX="874" custLinFactNeighborY="-24931">
        <dgm:presLayoutVars>
          <dgm:chMax val="1"/>
          <dgm:chPref val="1"/>
        </dgm:presLayoutVars>
      </dgm:prSet>
      <dgm:spPr/>
    </dgm:pt>
  </dgm:ptLst>
  <dgm:cxnLst>
    <dgm:cxn modelId="{652B430D-B65B-49E4-88E7-15E1E13762EB}" type="presOf" srcId="{1A06DE78-1C69-402F-BDC7-726EF9F0B357}" destId="{7590F046-A09F-4114-835D-2C18F4CB4343}" srcOrd="0" destOrd="0" presId="urn:microsoft.com/office/officeart/2018/5/layout/IconCircleLabelList"/>
    <dgm:cxn modelId="{65618427-2A6F-4CC4-857B-C21A739AA69C}" srcId="{E826AE21-3A3B-4651-B162-D44236988389}" destId="{1A06DE78-1C69-402F-BDC7-726EF9F0B357}" srcOrd="2" destOrd="0" parTransId="{F38815FF-8FD5-4143-9A87-C80094C2EA1F}" sibTransId="{86F09AA5-E573-48A5-99E3-4F4170A855CC}"/>
    <dgm:cxn modelId="{04364A84-46EA-4EC8-AC34-75A6FB392608}" type="presOf" srcId="{E826AE21-3A3B-4651-B162-D44236988389}" destId="{99607F4A-7620-49AD-8985-FA95D3155ADC}" srcOrd="0" destOrd="0" presId="urn:microsoft.com/office/officeart/2018/5/layout/IconCircleLabelList"/>
    <dgm:cxn modelId="{9E17D284-2814-4B09-9EE1-0BBD8E9A9431}" srcId="{E826AE21-3A3B-4651-B162-D44236988389}" destId="{0576C93F-AC3A-4681-9B25-8C8FDD8228A6}" srcOrd="1" destOrd="0" parTransId="{B7B6D340-5821-4808-9C08-5A7B4583C428}" sibTransId="{447F2047-38CA-4E6D-BB96-74276F1DF939}"/>
    <dgm:cxn modelId="{D3DCF5C3-427A-4F3C-9D60-DE033E03B1C1}" type="presOf" srcId="{0576C93F-AC3A-4681-9B25-8C8FDD8228A6}" destId="{5242045B-2A48-4625-9369-AFC4E4D79548}" srcOrd="0" destOrd="0" presId="urn:microsoft.com/office/officeart/2018/5/layout/IconCircleLabelList"/>
    <dgm:cxn modelId="{760B19FC-33D7-414D-8F96-5BA0D08F37E0}" srcId="{E826AE21-3A3B-4651-B162-D44236988389}" destId="{01FC6E8C-EE85-4434-B19B-8454FDA72A52}" srcOrd="0" destOrd="0" parTransId="{494019C6-30CF-4E56-B69E-789858B21801}" sibTransId="{A0EAD932-3C0D-4BA4-B627-A86E4166579E}"/>
    <dgm:cxn modelId="{92C69DFD-2C03-42D8-B1FC-EB0FC8244F5F}" type="presOf" srcId="{01FC6E8C-EE85-4434-B19B-8454FDA72A52}" destId="{ECE36709-2A5E-4E28-B7CE-6B132A7CACAF}" srcOrd="0" destOrd="0" presId="urn:microsoft.com/office/officeart/2018/5/layout/IconCircleLabelList"/>
    <dgm:cxn modelId="{69B03709-4AC1-4F0C-8C55-F836C1A0FEBB}" type="presParOf" srcId="{99607F4A-7620-49AD-8985-FA95D3155ADC}" destId="{15813227-953D-4974-9C5E-4DA6615CA4F0}" srcOrd="0" destOrd="0" presId="urn:microsoft.com/office/officeart/2018/5/layout/IconCircleLabelList"/>
    <dgm:cxn modelId="{DF1BD033-C764-4A75-9DFB-C5EDD39C0814}" type="presParOf" srcId="{15813227-953D-4974-9C5E-4DA6615CA4F0}" destId="{D3C545B6-972A-454B-9116-64590836B6FF}" srcOrd="0" destOrd="0" presId="urn:microsoft.com/office/officeart/2018/5/layout/IconCircleLabelList"/>
    <dgm:cxn modelId="{E7ADFAB2-D9BB-47F8-8CD9-CE1C305D161E}" type="presParOf" srcId="{15813227-953D-4974-9C5E-4DA6615CA4F0}" destId="{1900F5EB-3C49-4CD7-A1DC-16B604082C29}" srcOrd="1" destOrd="0" presId="urn:microsoft.com/office/officeart/2018/5/layout/IconCircleLabelList"/>
    <dgm:cxn modelId="{341509FA-FD93-45D7-82ED-95BE232463F1}" type="presParOf" srcId="{15813227-953D-4974-9C5E-4DA6615CA4F0}" destId="{9F6B49E7-2D91-4AE4-9A29-11488178600D}" srcOrd="2" destOrd="0" presId="urn:microsoft.com/office/officeart/2018/5/layout/IconCircleLabelList"/>
    <dgm:cxn modelId="{053D0631-BAFB-435F-B1E7-BB31DF7645FD}" type="presParOf" srcId="{15813227-953D-4974-9C5E-4DA6615CA4F0}" destId="{ECE36709-2A5E-4E28-B7CE-6B132A7CACAF}" srcOrd="3" destOrd="0" presId="urn:microsoft.com/office/officeart/2018/5/layout/IconCircleLabelList"/>
    <dgm:cxn modelId="{641C65D2-3C7E-4A5C-9D9E-01FF43B21CAA}" type="presParOf" srcId="{99607F4A-7620-49AD-8985-FA95D3155ADC}" destId="{192B88F3-452B-4534-96CA-FCE185C5D1E3}" srcOrd="1" destOrd="0" presId="urn:microsoft.com/office/officeart/2018/5/layout/IconCircleLabelList"/>
    <dgm:cxn modelId="{14B7F989-680E-4386-8B64-7684E23E21DD}" type="presParOf" srcId="{99607F4A-7620-49AD-8985-FA95D3155ADC}" destId="{51F2D5E7-4ACA-4146-9548-449C8875751C}" srcOrd="2" destOrd="0" presId="urn:microsoft.com/office/officeart/2018/5/layout/IconCircleLabelList"/>
    <dgm:cxn modelId="{C3851869-BFAB-4F4A-9A2E-F77ABD2EAD7E}" type="presParOf" srcId="{51F2D5E7-4ACA-4146-9548-449C8875751C}" destId="{3F2B87A2-265F-4C13-8E1A-790092AC32C7}" srcOrd="0" destOrd="0" presId="urn:microsoft.com/office/officeart/2018/5/layout/IconCircleLabelList"/>
    <dgm:cxn modelId="{1D9C29E1-C5D6-4334-8B29-27626E0F7EFE}" type="presParOf" srcId="{51F2D5E7-4ACA-4146-9548-449C8875751C}" destId="{2456E61E-BDCA-4BF4-B99A-F67446EF35C9}" srcOrd="1" destOrd="0" presId="urn:microsoft.com/office/officeart/2018/5/layout/IconCircleLabelList"/>
    <dgm:cxn modelId="{79645A15-8A33-4AE7-9FAF-C2CF88B17AAD}" type="presParOf" srcId="{51F2D5E7-4ACA-4146-9548-449C8875751C}" destId="{CA81F90E-D2F5-4D51-91F4-55BD70A92A97}" srcOrd="2" destOrd="0" presId="urn:microsoft.com/office/officeart/2018/5/layout/IconCircleLabelList"/>
    <dgm:cxn modelId="{501830B6-9618-4DB6-980A-35BAE854FA7C}" type="presParOf" srcId="{51F2D5E7-4ACA-4146-9548-449C8875751C}" destId="{5242045B-2A48-4625-9369-AFC4E4D79548}" srcOrd="3" destOrd="0" presId="urn:microsoft.com/office/officeart/2018/5/layout/IconCircleLabelList"/>
    <dgm:cxn modelId="{48765A4E-AF1A-4870-BE44-EA7B37CAD3B7}" type="presParOf" srcId="{99607F4A-7620-49AD-8985-FA95D3155ADC}" destId="{1B316234-F02D-4D3E-8AA9-9477595017AD}" srcOrd="3" destOrd="0" presId="urn:microsoft.com/office/officeart/2018/5/layout/IconCircleLabelList"/>
    <dgm:cxn modelId="{11B1BE0F-1E90-4BEA-A338-C031F8EBC1A3}" type="presParOf" srcId="{99607F4A-7620-49AD-8985-FA95D3155ADC}" destId="{8589ADFB-D291-4B20-878D-2A810B9698F2}" srcOrd="4" destOrd="0" presId="urn:microsoft.com/office/officeart/2018/5/layout/IconCircleLabelList"/>
    <dgm:cxn modelId="{B630B75B-5D46-435B-BFEC-C08545104A25}" type="presParOf" srcId="{8589ADFB-D291-4B20-878D-2A810B9698F2}" destId="{ED3EE1BA-EEDC-4C5D-AB7D-CB764A3A6804}" srcOrd="0" destOrd="0" presId="urn:microsoft.com/office/officeart/2018/5/layout/IconCircleLabelList"/>
    <dgm:cxn modelId="{A38C9440-7C5F-46EA-B6B3-6B064924CF30}" type="presParOf" srcId="{8589ADFB-D291-4B20-878D-2A810B9698F2}" destId="{62D130BC-7528-4DEA-B538-83F54D327FFB}" srcOrd="1" destOrd="0" presId="urn:microsoft.com/office/officeart/2018/5/layout/IconCircleLabelList"/>
    <dgm:cxn modelId="{633E46EE-E14F-48DD-B3BF-84509D88C694}" type="presParOf" srcId="{8589ADFB-D291-4B20-878D-2A810B9698F2}" destId="{EAEFA722-5751-4B7A-8244-9AADD1424D74}" srcOrd="2" destOrd="0" presId="urn:microsoft.com/office/officeart/2018/5/layout/IconCircleLabelList"/>
    <dgm:cxn modelId="{29B06BF9-0F83-4B8E-85DB-DCC68CF6BC1C}" type="presParOf" srcId="{8589ADFB-D291-4B20-878D-2A810B9698F2}" destId="{7590F046-A09F-4114-835D-2C18F4CB434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B87A2-265F-4C13-8E1A-790092AC32C7}">
      <dsp:nvSpPr>
        <dsp:cNvPr id="0" name=""/>
        <dsp:cNvSpPr/>
      </dsp:nvSpPr>
      <dsp:spPr>
        <a:xfrm>
          <a:off x="1898217" y="53822"/>
          <a:ext cx="1647000" cy="1647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56E61E-BDCA-4BF4-B99A-F67446EF35C9}">
      <dsp:nvSpPr>
        <dsp:cNvPr id="0" name=""/>
        <dsp:cNvSpPr/>
      </dsp:nvSpPr>
      <dsp:spPr>
        <a:xfrm>
          <a:off x="2249217" y="404822"/>
          <a:ext cx="945000" cy="945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2045B-2A48-4625-9369-AFC4E4D79548}">
      <dsp:nvSpPr>
        <dsp:cNvPr id="0" name=""/>
        <dsp:cNvSpPr/>
      </dsp:nvSpPr>
      <dsp:spPr>
        <a:xfrm>
          <a:off x="1178114" y="1799295"/>
          <a:ext cx="3119444" cy="1064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dirty="0" err="1">
              <a:latin typeface="Arial" panose="020B0604020202020204" pitchFamily="34" charset="0"/>
              <a:cs typeface="Arial" panose="020B0604020202020204" pitchFamily="34" charset="0"/>
            </a:rPr>
            <a:t>risultati</a:t>
          </a:r>
          <a:r>
            <a:rPr lang="en-US" sz="1800" kern="1200" cap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cap="none" dirty="0" err="1">
              <a:latin typeface="Arial" panose="020B0604020202020204" pitchFamily="34" charset="0"/>
              <a:cs typeface="Arial" panose="020B0604020202020204" pitchFamily="34" charset="0"/>
            </a:rPr>
            <a:t>più</a:t>
          </a:r>
          <a:r>
            <a:rPr lang="en-US" sz="1800" kern="1200" cap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cap="none" dirty="0" err="1">
              <a:latin typeface="Arial" panose="020B0604020202020204" pitchFamily="34" charset="0"/>
              <a:cs typeface="Arial" panose="020B0604020202020204" pitchFamily="34" charset="0"/>
            </a:rPr>
            <a:t>che</a:t>
          </a:r>
          <a:r>
            <a:rPr lang="en-US" sz="1800" kern="1200" cap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cap="none" dirty="0" err="1">
              <a:latin typeface="Arial" panose="020B0604020202020204" pitchFamily="34" charset="0"/>
              <a:cs typeface="Arial" panose="020B0604020202020204" pitchFamily="34" charset="0"/>
            </a:rPr>
            <a:t>soddisfacienti</a:t>
          </a:r>
          <a:r>
            <a:rPr lang="en-US" sz="1800" kern="1200" cap="none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800" kern="1200" cap="none" dirty="0" err="1">
              <a:latin typeface="Arial" panose="020B0604020202020204" pitchFamily="34" charset="0"/>
              <a:cs typeface="Arial" panose="020B0604020202020204" pitchFamily="34" charset="0"/>
            </a:rPr>
            <a:t>anche</a:t>
          </a:r>
          <a:r>
            <a:rPr lang="en-US" sz="1800" kern="1200" cap="none" dirty="0">
              <a:latin typeface="Arial" panose="020B0604020202020204" pitchFamily="34" charset="0"/>
              <a:cs typeface="Arial" panose="020B0604020202020204" pitchFamily="34" charset="0"/>
            </a:rPr>
            <a:t> se </a:t>
          </a:r>
          <a:r>
            <a:rPr lang="en-US" sz="1800" kern="1200" cap="none" dirty="0" err="1">
              <a:latin typeface="Arial" panose="020B0604020202020204" pitchFamily="34" charset="0"/>
              <a:cs typeface="Arial" panose="020B0604020202020204" pitchFamily="34" charset="0"/>
            </a:rPr>
            <a:t>più</a:t>
          </a:r>
          <a:r>
            <a:rPr lang="en-US" sz="1800" kern="1200" cap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cap="none" dirty="0" err="1">
              <a:latin typeface="Arial" panose="020B0604020202020204" pitchFamily="34" charset="0"/>
              <a:cs typeface="Arial" panose="020B0604020202020204" pitchFamily="34" charset="0"/>
            </a:rPr>
            <a:t>laborioso</a:t>
          </a:r>
          <a:r>
            <a:rPr lang="en-US" sz="1800" kern="1200" cap="none" dirty="0">
              <a:latin typeface="Arial" panose="020B0604020202020204" pitchFamily="34" charset="0"/>
              <a:cs typeface="Arial" panose="020B0604020202020204" pitchFamily="34" charset="0"/>
            </a:rPr>
            <a:t> e </a:t>
          </a:r>
          <a:r>
            <a:rPr lang="en-US" sz="1800" kern="1200" cap="none" dirty="0" err="1">
              <a:latin typeface="Arial" panose="020B0604020202020204" pitchFamily="34" charset="0"/>
              <a:cs typeface="Arial" panose="020B0604020202020204" pitchFamily="34" charset="0"/>
            </a:rPr>
            <a:t>meno</a:t>
          </a:r>
          <a:r>
            <a:rPr lang="en-US" sz="1800" kern="1200" cap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cap="none" dirty="0" err="1">
              <a:latin typeface="Arial" panose="020B0604020202020204" pitchFamily="34" charset="0"/>
              <a:cs typeface="Arial" panose="020B0604020202020204" pitchFamily="34" charset="0"/>
            </a:rPr>
            <a:t>efficiente</a:t>
          </a:r>
          <a:r>
            <a:rPr lang="en-US" sz="1800" kern="1200" cap="none" dirty="0">
              <a:latin typeface="Arial" panose="020B0604020202020204" pitchFamily="34" charset="0"/>
              <a:cs typeface="Arial" panose="020B0604020202020204" pitchFamily="34" charset="0"/>
            </a:rPr>
            <a:t> di software a </a:t>
          </a:r>
          <a:r>
            <a:rPr lang="en-US" sz="1800" kern="1200" cap="none" dirty="0" err="1">
              <a:latin typeface="Arial" panose="020B0604020202020204" pitchFamily="34" charset="0"/>
              <a:cs typeface="Arial" panose="020B0604020202020204" pitchFamily="34" charset="0"/>
            </a:rPr>
            <a:t>pagamento</a:t>
          </a:r>
          <a:endParaRPr lang="en-US" sz="1800" kern="1200" cap="none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78114" y="1799295"/>
        <a:ext cx="3119444" cy="1064171"/>
      </dsp:txXfrm>
    </dsp:sp>
    <dsp:sp modelId="{ED3EE1BA-EEDC-4C5D-AB7D-CB764A3A6804}">
      <dsp:nvSpPr>
        <dsp:cNvPr id="0" name=""/>
        <dsp:cNvSpPr/>
      </dsp:nvSpPr>
      <dsp:spPr>
        <a:xfrm>
          <a:off x="5497426" y="53822"/>
          <a:ext cx="1647000" cy="1647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130BC-7528-4DEA-B538-83F54D327FFB}">
      <dsp:nvSpPr>
        <dsp:cNvPr id="0" name=""/>
        <dsp:cNvSpPr/>
      </dsp:nvSpPr>
      <dsp:spPr>
        <a:xfrm>
          <a:off x="5848426" y="404822"/>
          <a:ext cx="945000" cy="945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0F046-A09F-4114-835D-2C18F4CB4343}">
      <dsp:nvSpPr>
        <dsp:cNvPr id="0" name=""/>
        <dsp:cNvSpPr/>
      </dsp:nvSpPr>
      <dsp:spPr>
        <a:xfrm>
          <a:off x="4808237" y="1799295"/>
          <a:ext cx="3133971" cy="1064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800" b="0" i="0" kern="1200" cap="none" baseline="0" dirty="0">
              <a:latin typeface="Arial" panose="020B0604020202020204" pitchFamily="34" charset="0"/>
              <a:cs typeface="Arial" panose="020B0604020202020204" pitchFamily="34" charset="0"/>
            </a:rPr>
            <a:t>feedback positivo da parte di AIC e clienti, in particolare sulla grafica e l’integrazione con i dispositivi</a:t>
          </a:r>
          <a:endParaRPr lang="en-US" sz="1800" kern="1200" cap="none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08237" y="1799295"/>
        <a:ext cx="3133971" cy="10641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545B6-972A-454B-9116-64590836B6FF}">
      <dsp:nvSpPr>
        <dsp:cNvPr id="0" name=""/>
        <dsp:cNvSpPr/>
      </dsp:nvSpPr>
      <dsp:spPr>
        <a:xfrm>
          <a:off x="541046" y="483252"/>
          <a:ext cx="1647000" cy="1647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00F5EB-3C49-4CD7-A1DC-16B604082C29}">
      <dsp:nvSpPr>
        <dsp:cNvPr id="0" name=""/>
        <dsp:cNvSpPr/>
      </dsp:nvSpPr>
      <dsp:spPr>
        <a:xfrm>
          <a:off x="892046" y="834252"/>
          <a:ext cx="945000" cy="945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36709-2A5E-4E28-B7CE-6B132A7CACAF}">
      <dsp:nvSpPr>
        <dsp:cNvPr id="0" name=""/>
        <dsp:cNvSpPr/>
      </dsp:nvSpPr>
      <dsp:spPr>
        <a:xfrm>
          <a:off x="14546" y="2458139"/>
          <a:ext cx="270000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>
              <a:latin typeface="Arial" panose="020B0604020202020204" pitchFamily="34" charset="0"/>
              <a:cs typeface="Arial" panose="020B0604020202020204" pitchFamily="34" charset="0"/>
            </a:rPr>
            <a:t>testare il sistema ambiente reale</a:t>
          </a:r>
        </a:p>
      </dsp:txBody>
      <dsp:txXfrm>
        <a:off x="14546" y="2458139"/>
        <a:ext cx="2700000" cy="742500"/>
      </dsp:txXfrm>
    </dsp:sp>
    <dsp:sp modelId="{3F2B87A2-265F-4C13-8E1A-790092AC32C7}">
      <dsp:nvSpPr>
        <dsp:cNvPr id="0" name=""/>
        <dsp:cNvSpPr/>
      </dsp:nvSpPr>
      <dsp:spPr>
        <a:xfrm>
          <a:off x="3713546" y="483252"/>
          <a:ext cx="1647000" cy="1647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56E61E-BDCA-4BF4-B99A-F67446EF35C9}">
      <dsp:nvSpPr>
        <dsp:cNvPr id="0" name=""/>
        <dsp:cNvSpPr/>
      </dsp:nvSpPr>
      <dsp:spPr>
        <a:xfrm>
          <a:off x="4064546" y="834252"/>
          <a:ext cx="945000" cy="945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2045B-2A48-4625-9369-AFC4E4D79548}">
      <dsp:nvSpPr>
        <dsp:cNvPr id="0" name=""/>
        <dsp:cNvSpPr/>
      </dsp:nvSpPr>
      <dsp:spPr>
        <a:xfrm>
          <a:off x="3232271" y="2458139"/>
          <a:ext cx="270000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200" kern="1200" cap="none" dirty="0">
              <a:latin typeface="Arial" panose="020B0604020202020204" pitchFamily="34" charset="0"/>
              <a:cs typeface="Arial" panose="020B0604020202020204" pitchFamily="34" charset="0"/>
            </a:rPr>
            <a:t>integrare ulteriori sensori e tecnologie  </a:t>
          </a:r>
          <a:endParaRPr lang="en-US" sz="2200" kern="1200" cap="none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232271" y="2458139"/>
        <a:ext cx="2700000" cy="742500"/>
      </dsp:txXfrm>
    </dsp:sp>
    <dsp:sp modelId="{ED3EE1BA-EEDC-4C5D-AB7D-CB764A3A6804}">
      <dsp:nvSpPr>
        <dsp:cNvPr id="0" name=""/>
        <dsp:cNvSpPr/>
      </dsp:nvSpPr>
      <dsp:spPr>
        <a:xfrm>
          <a:off x="7113009" y="483252"/>
          <a:ext cx="1647000" cy="1647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130BC-7528-4DEA-B538-83F54D327FFB}">
      <dsp:nvSpPr>
        <dsp:cNvPr id="0" name=""/>
        <dsp:cNvSpPr/>
      </dsp:nvSpPr>
      <dsp:spPr>
        <a:xfrm>
          <a:off x="7464009" y="834252"/>
          <a:ext cx="945000" cy="945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0F046-A09F-4114-835D-2C18F4CB4343}">
      <dsp:nvSpPr>
        <dsp:cNvPr id="0" name=""/>
        <dsp:cNvSpPr/>
      </dsp:nvSpPr>
      <dsp:spPr>
        <a:xfrm>
          <a:off x="6374094" y="2458139"/>
          <a:ext cx="3153924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200" kern="1200" cap="none" dirty="0">
              <a:latin typeface="Arial" panose="020B0604020202020204" pitchFamily="34" charset="0"/>
              <a:cs typeface="Arial" panose="020B0604020202020204" pitchFamily="34" charset="0"/>
            </a:rPr>
            <a:t>esplorazione di algoritmi di machine learning</a:t>
          </a:r>
          <a:endParaRPr lang="en-US" sz="2200" kern="1200" cap="none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374094" y="2458139"/>
        <a:ext cx="3153924" cy="74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56800CAC-DF4E-6D60-E268-9CA3F7EE71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unibs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DAF8593-7B3E-B275-6CA4-3A3ED808A9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BCADF8-C998-46D9-875E-6759B3391D7E}" type="datetimeFigureOut">
              <a:rPr lang="it-IT" smtClean="0"/>
              <a:t>15/07/2024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F60F9BD-D514-18C7-A1EB-522460E664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matr.736132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067210F-74DE-E50F-1C6E-E359CF7731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45760-B64F-41EF-9FA6-15173F449E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20914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unibs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1E68B-F6FF-40FF-A534-342B1D00BFDD}" type="datetimeFigureOut">
              <a:rPr lang="it-IT" smtClean="0"/>
              <a:t>15/07/2024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400" b="0"/>
            </a:lvl1pPr>
          </a:lstStyle>
          <a:p>
            <a:r>
              <a:rPr lang="it-IT"/>
              <a:t>matr.736132</a:t>
            </a:r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854E9-6BF8-4092-A3F5-3EACB0F860C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5571042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4A642D-C1A1-3246-EF53-FB3567E24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776579B-41F0-944F-7FB7-B7B57C61A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6E3560-E837-3949-E2AD-B023144C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15A2A-FDE6-46F2-B8D3-8A49E8AC0E0F}" type="datetime1">
              <a:rPr lang="it-IT" smtClean="0"/>
              <a:t>15/07/2024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2E85D6-A7AA-5FB9-E5E4-B99DDD482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RELAZIONE FINALE LAUR.  ALBERTO MERGONI – MATR. 736132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006472-02C0-A69A-A5B3-82E7603F3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2932-1A33-4A7C-8CDC-F226463C0A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365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C2787C-8FE1-5442-CB60-4E8A3C01B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B05C27-BD13-D4C7-1F6A-63E38D7AE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D32B266-ED48-262B-FD44-485885A89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BD158-A223-4666-B2BF-D816933AF721}" type="datetime1">
              <a:rPr lang="it-IT" smtClean="0"/>
              <a:t>15/07/2024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0FAD690-7BA8-4887-735C-B0BCFB53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RELAZIONE FINALE LAUR.  ALBERTO MERGONI – MATR. 736132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D92D96-FE9A-7606-C3D2-C1F435703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2932-1A33-4A7C-8CDC-F226463C0A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1847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AE522B-A19B-B9ED-6A96-4A3CDB25D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20DB534-7A22-FE97-4092-9BBA37522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3FE224-04F4-CE4A-9CDC-E785C4A57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0EC6-27CE-4D10-A7DF-D43386DA2E74}" type="datetime1">
              <a:rPr lang="it-IT" smtClean="0"/>
              <a:t>15/07/2024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257450C-E8CA-6671-2488-39E99EB0C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RELAZIONE FINALE LAUR.  ALBERTO MERGONI – MATR. 736132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3A40FE-2C3A-4CF9-0707-E7E050B19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2932-1A33-4A7C-8CDC-F226463C0A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5050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42B874-7958-B589-E3BC-54B7E0C8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D65198-0C27-3D03-C85F-A40044FFD0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E8F0D2E-84D9-2B00-1EA8-480B290E1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44D189F-3A82-D573-F4B2-D6ECCAE3C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9C920-1AB3-4933-8CD4-B6D488B7FAD8}" type="datetime1">
              <a:rPr lang="it-IT" smtClean="0"/>
              <a:t>15/07/2024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D46034E-9D75-F4EC-8A8F-69BF3F35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RELAZIONE FINALE LAUR.  ALBERTO MERGONI – MATR. 736132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A3CE0D-2D91-4123-5CDA-BCCFFCD3F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2932-1A33-4A7C-8CDC-F226463C0A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366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644FA-2BA2-6FD7-BEDB-0390C0461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4B12456-B6E7-BEC4-D539-8F30881B3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85EBF02-D576-990D-A2BF-45AB61C06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FD043F7-5425-DA62-12CB-8BEF440FE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818D65F-DF81-680F-D2DF-95A0153F45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E1998FD-0BA5-B1C1-A534-368E31110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1179-E277-430C-BACD-74ACEB331800}" type="datetime1">
              <a:rPr lang="it-IT" smtClean="0"/>
              <a:t>15/07/2024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F5B8F1E-8E33-FA79-C333-0F083C8D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RELAZIONE FINALE LAUR.  ALBERTO MERGONI – MATR. 736132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BAA28DB-EC91-C7FB-7086-A843E8ECD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2932-1A33-4A7C-8CDC-F226463C0A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492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3E61B0-4AE5-A379-139E-AFBC7BD1B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43FF0FD-2882-471B-646A-B4905119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CC122-AF3C-49B1-A79D-347071DB382B}" type="datetime1">
              <a:rPr lang="it-IT" smtClean="0"/>
              <a:t>15/07/2024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3E31DF-4D31-5EBB-6B24-1F71C7AA1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RELAZIONE FINALE LAUR.  ALBERTO MERGONI – MATR. 736132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936D86F-AA50-3442-6D6D-96C9CA6C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2932-1A33-4A7C-8CDC-F226463C0A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5026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BEDF41F-F0DA-0E06-19FE-4D0D4D2A4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2392-776F-4ACC-846B-64753ABA6434}" type="datetime1">
              <a:rPr lang="it-IT" smtClean="0"/>
              <a:t>15/07/2024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EBE475-3ACB-E7C9-138F-FC268F44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RELAZIONE FINALE LAUR.  ALBERTO MERGONI – MATR. 736132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5A9C586-65BC-F864-C96E-2D95BDCF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2932-1A33-4A7C-8CDC-F226463C0A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1484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F5B7A2-788D-E96F-A19E-5FCE55C1C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E79451-306C-6BBD-7FD0-30806ECD1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7BF47F6-6B22-356E-FFDD-7D22699A2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F923685-9971-E995-1C36-50F0226C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D4D5-9879-4D3A-BDFC-3883BE70DE98}" type="datetime1">
              <a:rPr lang="it-IT" smtClean="0"/>
              <a:t>15/07/2024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E2AA0F3-E955-B403-5673-56DD714AD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RELAZIONE FINALE LAUR.  ALBERTO MERGONI – MATR. 736132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D3578E9-7770-D425-C6ED-827D6ADB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2932-1A33-4A7C-8CDC-F226463C0A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9895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D71168-F495-F2B1-556C-3D1BA4D81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E2B5804-08FC-8EEA-3273-DEF28C4AB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B9F4F71-6C55-4AE1-69FC-6190F42E4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9482307-69D6-6C9F-CEE5-89F8B48B5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FEC1-4647-4448-8372-365FCDA150D2}" type="datetime1">
              <a:rPr lang="it-IT" smtClean="0"/>
              <a:t>15/07/2024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900292-F05B-B17A-D3C3-12AE5F00F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RELAZIONE FINALE LAUR.  ALBERTO MERGONI – MATR. 736132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36F037D-E634-ED26-1743-5E4170B88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2932-1A33-4A7C-8CDC-F226463C0A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6454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DD8163-5551-0D8B-39B3-AEC78249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B9425B3-CE96-FA00-CDE5-09D89B122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85A681-0FB0-7A5C-B333-FA898A4B0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F16D-1CDE-4810-83DA-3C884C2CCB30}" type="datetime1">
              <a:rPr lang="it-IT" smtClean="0"/>
              <a:t>15/07/2024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C3DF9-8846-8568-C1D6-9EEA21AA4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RELAZIONE FINALE LAUR.  ALBERTO MERGONI – MATR. 736132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7EA98D-C106-DC65-0260-760D9E4A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2932-1A33-4A7C-8CDC-F226463C0A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150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493093C-6ED3-B7C6-7797-69F3A3A4B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CFB433C-C828-A40A-1CD3-4EE2166DC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4D94B6-73FF-A7AF-4531-EDC18AE76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1440E-8CBB-43C6-A266-3521E89AC76C}" type="datetime1">
              <a:rPr lang="it-IT" smtClean="0"/>
              <a:t>15/07/2024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880726-A870-7DD4-13AA-E49551773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RELAZIONE FINALE LAUR.  ALBERTO MERGONI – MATR. 736132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7E2E9FB-D319-0582-93D5-0363A70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2932-1A33-4A7C-8CDC-F226463C0A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4328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FE521C-B839-7334-B52C-61E17B62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808676D-04D2-5947-8CA2-0F7700536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827F0DD-AA83-B514-DFC1-F9C1B079F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1C38A-44EC-4ED1-B9EB-0B9E4A938816}" type="datetime1">
              <a:rPr lang="it-IT" smtClean="0"/>
              <a:t>15/07/2024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AD6A66-01DF-F222-B11B-E175D2C17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RELAZIONE FINALE LAUR.  ALBERTO MERGONI – MATR. 736132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F5DA6FA-9835-598F-1652-D93817EBC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2DAE6-51D9-4BC9-B408-D3682CA743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8250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0C9CD94-C4CB-9C4E-9892-89F8AFE79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C3BBAE-38D7-956D-ECB2-CD7A9AB42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05EEE1-3CAB-39A1-D13B-114A45C82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5304B-86FB-4DED-8722-5CFE9E009633}" type="datetime1">
              <a:rPr lang="it-IT" smtClean="0"/>
              <a:t>15/07/2024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3A2524-C79A-1B22-978B-8241AF1D0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RELAZIONE FINALE LAUR.  ALBERTO MERGONI – MATR. 736132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A0DDAF-702B-43AA-B5C4-13A7289B5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22932-1A33-4A7C-8CDC-F226463C0A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3049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tangolo 13">
            <a:extLst>
              <a:ext uri="{FF2B5EF4-FFF2-40B4-BE49-F238E27FC236}">
                <a16:creationId xmlns:a16="http://schemas.microsoft.com/office/drawing/2014/main" id="{7FBE291C-86E7-20EF-FB73-123556838B4E}"/>
              </a:ext>
            </a:extLst>
          </p:cNvPr>
          <p:cNvSpPr/>
          <p:nvPr/>
        </p:nvSpPr>
        <p:spPr>
          <a:xfrm>
            <a:off x="0" y="6048375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A675777-8C75-71AA-AB55-0A3925402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83100"/>
            <a:ext cx="10515600" cy="1325563"/>
          </a:xfrm>
        </p:spPr>
        <p:txBody>
          <a:bodyPr>
            <a:no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</a:pPr>
            <a:br>
              <a:rPr lang="it-IT" sz="3200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3200" b="1" kern="50" spc="-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ESPLORAZIONE E GESTIONE DEI DATI </a:t>
            </a:r>
            <a:br>
              <a:rPr lang="it-IT" sz="3200" b="1" kern="50" spc="-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font318"/>
              </a:rPr>
            </a:br>
            <a:r>
              <a:rPr lang="it-IT" sz="3200" b="1" kern="50" spc="-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FINALIZZATE ALLA MANUTENZIONE PREDITTIVA</a:t>
            </a:r>
            <a:br>
              <a:rPr lang="it-IT" sz="3200" b="1" kern="50" spc="-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font318"/>
              </a:rPr>
            </a:br>
            <a:r>
              <a:rPr lang="it-IT" sz="3200" b="1" kern="50" spc="-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NELL’INDUSTRIA SIDERURGICA</a:t>
            </a:r>
            <a:br>
              <a:rPr lang="it-IT" sz="3200" b="1" kern="50" spc="-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font318"/>
              </a:rPr>
            </a:br>
            <a:endParaRPr lang="it-IT" sz="3200" b="0" i="0" u="none" strike="noStrike" kern="10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D0AEACC-F358-7A44-F49D-9BC7BF34A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1022" y="6254293"/>
            <a:ext cx="6328749" cy="397787"/>
          </a:xfrm>
        </p:spPr>
        <p:txBody>
          <a:bodyPr>
            <a:normAutofit lnSpcReduction="10000"/>
          </a:bodyPr>
          <a:lstStyle/>
          <a:p>
            <a:pPr marL="0" marR="0" lvl="0" indent="0" rtl="0">
              <a:buNone/>
            </a:pPr>
            <a:r>
              <a:rPr lang="it-IT" sz="2400" b="1" kern="1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it-IT" sz="2400" b="1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aureando:</a:t>
            </a:r>
            <a:r>
              <a:rPr lang="it-IT" sz="2400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 Alberto Mergoni - </a:t>
            </a:r>
            <a:r>
              <a:rPr lang="it-IT" sz="2400" b="1" kern="100" dirty="0" err="1">
                <a:latin typeface="Arial" panose="020B0604020202020204" pitchFamily="34" charset="0"/>
                <a:cs typeface="Arial" panose="020B0604020202020204" pitchFamily="34" charset="0"/>
              </a:rPr>
              <a:t>Matr</a:t>
            </a:r>
            <a:r>
              <a:rPr lang="it-IT" sz="2400" kern="100" dirty="0">
                <a:latin typeface="Arial" panose="020B0604020202020204" pitchFamily="34" charset="0"/>
                <a:cs typeface="Arial" panose="020B0604020202020204" pitchFamily="34" charset="0"/>
              </a:rPr>
              <a:t>. 736132</a:t>
            </a:r>
            <a:endParaRPr lang="it-IT" sz="2400" b="0" i="0" u="none" strike="noStrike" kern="10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egnaposto testo 2">
            <a:extLst>
              <a:ext uri="{FF2B5EF4-FFF2-40B4-BE49-F238E27FC236}">
                <a16:creationId xmlns:a16="http://schemas.microsoft.com/office/drawing/2014/main" id="{AECD354A-F792-86EA-5AE1-1BE1F7313107}"/>
              </a:ext>
            </a:extLst>
          </p:cNvPr>
          <p:cNvSpPr txBox="1">
            <a:spLocks/>
          </p:cNvSpPr>
          <p:nvPr/>
        </p:nvSpPr>
        <p:spPr>
          <a:xfrm>
            <a:off x="286316" y="6254293"/>
            <a:ext cx="5372477" cy="3977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400" b="1" kern="100" dirty="0">
                <a:latin typeface="Arial" panose="020B0604020202020204" pitchFamily="34" charset="0"/>
                <a:cs typeface="Arial" panose="020B0604020202020204" pitchFamily="34" charset="0"/>
              </a:rPr>
              <a:t>Relatore:</a:t>
            </a:r>
            <a:r>
              <a:rPr lang="it-IT" sz="2400" kern="100" dirty="0">
                <a:latin typeface="Arial" panose="020B0604020202020204" pitchFamily="34" charset="0"/>
                <a:cs typeface="Arial" panose="020B0604020202020204" pitchFamily="34" charset="0"/>
              </a:rPr>
              <a:t> Devis Bianchini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F8C1B03-F1ED-032D-21DF-7B24CC399082}"/>
              </a:ext>
            </a:extLst>
          </p:cNvPr>
          <p:cNvSpPr txBox="1"/>
          <p:nvPr/>
        </p:nvSpPr>
        <p:spPr>
          <a:xfrm>
            <a:off x="907987" y="1256335"/>
            <a:ext cx="10376026" cy="152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lang="it-IT" sz="2000" i="1" spc="7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DIPARTIMENTO DI INGEGNERIA DELL’INFORMAZIONE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lang="it-IT" sz="2000" spc="7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Corso di Laurea </a:t>
            </a:r>
            <a:br>
              <a:rPr lang="it-IT" sz="2000" spc="7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it-IT" sz="2000" spc="7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Ingegneria delle Tecnologie per l’Impresa Digitale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it-IT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1C11580F-43F0-E936-B6FA-468BA0092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17" y="177202"/>
            <a:ext cx="2098782" cy="87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21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FCA229F9-11F1-C615-035A-48D3F7B57717}"/>
              </a:ext>
            </a:extLst>
          </p:cNvPr>
          <p:cNvSpPr/>
          <p:nvPr/>
        </p:nvSpPr>
        <p:spPr>
          <a:xfrm>
            <a:off x="0" y="6048375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986E817-02E5-06B4-CAAF-33B5DF46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394"/>
            <a:ext cx="10515600" cy="1325563"/>
          </a:xfrm>
        </p:spPr>
        <p:txBody>
          <a:bodyPr/>
          <a:lstStyle/>
          <a:p>
            <a:pPr marR="0" algn="ctr" rtl="0"/>
            <a:r>
              <a:rPr lang="it-IT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Obiettivi della </a:t>
            </a:r>
            <a:r>
              <a:rPr lang="it-IT" kern="100" dirty="0">
                <a:latin typeface="Arial" panose="020B0604020202020204" pitchFamily="34" charset="0"/>
                <a:cs typeface="Arial" panose="020B0604020202020204" pitchFamily="34" charset="0"/>
              </a:rPr>
              <a:t>relazione</a:t>
            </a:r>
            <a:endParaRPr lang="it-IT" b="0" i="0" u="none" strike="noStrike" kern="10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93D8183-E2CC-D85A-B388-76B104183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724515"/>
            <a:ext cx="5181600" cy="180950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it-IT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sviluppare un'applicazione capace di soddisfare i requisiti di </a:t>
            </a:r>
            <a:r>
              <a:rPr lang="it-IT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monitoraggio</a:t>
            </a:r>
            <a:r>
              <a:rPr lang="it-IT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 tempo reale 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C74991A-C455-770C-A402-FFF17EC69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4309282"/>
            <a:ext cx="5181600" cy="111885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porre le basi per una </a:t>
            </a:r>
            <a:r>
              <a:rPr lang="it-IT" sz="20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manutenzione predittiva</a:t>
            </a:r>
            <a:r>
              <a:rPr lang="it-IT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efficace</a:t>
            </a: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B2CCA79-FD9E-C921-C339-914EEC1F3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607" y="2993509"/>
            <a:ext cx="1118858" cy="1118858"/>
          </a:xfrm>
          <a:prstGeom prst="rect">
            <a:avLst/>
          </a:prstGeom>
        </p:spPr>
      </p:pic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9BBFDC69-08D8-5004-151B-8BA7A5AF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279355"/>
            <a:ext cx="2743200" cy="365125"/>
          </a:xfrm>
        </p:spPr>
        <p:txBody>
          <a:bodyPr/>
          <a:lstStyle/>
          <a:p>
            <a:fld id="{4F622932-1A33-4A7C-8CDC-F226463C0A5C}" type="slidenum">
              <a:rPr lang="it-IT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it-IT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B18A8372-B0C7-4C02-732C-29F4786E7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494" y="2890392"/>
            <a:ext cx="1243012" cy="1243012"/>
          </a:xfrm>
          <a:prstGeom prst="rect">
            <a:avLst/>
          </a:prstGeom>
        </p:spPr>
      </p:pic>
      <p:sp>
        <p:nvSpPr>
          <p:cNvPr id="14" name="Rettangolo 13">
            <a:extLst>
              <a:ext uri="{FF2B5EF4-FFF2-40B4-BE49-F238E27FC236}">
                <a16:creationId xmlns:a16="http://schemas.microsoft.com/office/drawing/2014/main" id="{AD236EBD-98F6-CE8B-DC2F-EE285CEE59DE}"/>
              </a:ext>
            </a:extLst>
          </p:cNvPr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Segnaposto piè di pagina 9">
            <a:extLst>
              <a:ext uri="{FF2B5EF4-FFF2-40B4-BE49-F238E27FC236}">
                <a16:creationId xmlns:a16="http://schemas.microsoft.com/office/drawing/2014/main" id="{046A98EE-17B4-FBD7-BBA2-88F00B06A3F2}"/>
              </a:ext>
            </a:extLst>
          </p:cNvPr>
          <p:cNvSpPr txBox="1">
            <a:spLocks/>
          </p:cNvSpPr>
          <p:nvPr/>
        </p:nvSpPr>
        <p:spPr>
          <a:xfrm>
            <a:off x="0" y="116544"/>
            <a:ext cx="12191999" cy="587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ESPLORAZIONE E GESTIONE DEI DATI FINALIZZATE ALLA MANUTENZIONE PREDITTIVA </a:t>
            </a:r>
          </a:p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NELL’INDUSTRIA SIDERURGICA</a:t>
            </a:r>
          </a:p>
        </p:txBody>
      </p:sp>
      <p:sp>
        <p:nvSpPr>
          <p:cNvPr id="4" name="Segnaposto piè di pagina 9">
            <a:extLst>
              <a:ext uri="{FF2B5EF4-FFF2-40B4-BE49-F238E27FC236}">
                <a16:creationId xmlns:a16="http://schemas.microsoft.com/office/drawing/2014/main" id="{1C756DD3-1021-01C8-E8FE-371829B7F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1" y="6159500"/>
            <a:ext cx="7848599" cy="587374"/>
          </a:xfrm>
        </p:spPr>
        <p:txBody>
          <a:bodyPr/>
          <a:lstStyle/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MERGONI – MATR. 736132</a:t>
            </a:r>
          </a:p>
        </p:txBody>
      </p:sp>
    </p:spTree>
    <p:extLst>
      <p:ext uri="{BB962C8B-B14F-4D97-AF65-F5344CB8AC3E}">
        <p14:creationId xmlns:p14="http://schemas.microsoft.com/office/powerpoint/2010/main" val="502392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FCA229F9-11F1-C615-035A-48D3F7B57717}"/>
              </a:ext>
            </a:extLst>
          </p:cNvPr>
          <p:cNvSpPr/>
          <p:nvPr/>
        </p:nvSpPr>
        <p:spPr>
          <a:xfrm>
            <a:off x="0" y="6048375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986E817-02E5-06B4-CAAF-33B5DF46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394"/>
            <a:ext cx="10515600" cy="1325563"/>
          </a:xfrm>
        </p:spPr>
        <p:txBody>
          <a:bodyPr/>
          <a:lstStyle/>
          <a:p>
            <a:pPr marR="0" algn="ctr" rtl="0"/>
            <a:r>
              <a:rPr lang="it-IT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Industrial IoT</a:t>
            </a: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9BBFDC69-08D8-5004-151B-8BA7A5AF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279355"/>
            <a:ext cx="2743200" cy="365125"/>
          </a:xfrm>
        </p:spPr>
        <p:txBody>
          <a:bodyPr/>
          <a:lstStyle/>
          <a:p>
            <a:fld id="{4F622932-1A33-4A7C-8CDC-F226463C0A5C}" type="slidenum">
              <a:rPr lang="it-IT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it-IT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AD236EBD-98F6-CE8B-DC2F-EE285CEE59DE}"/>
              </a:ext>
            </a:extLst>
          </p:cNvPr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Segnaposto piè di pagina 9">
            <a:extLst>
              <a:ext uri="{FF2B5EF4-FFF2-40B4-BE49-F238E27FC236}">
                <a16:creationId xmlns:a16="http://schemas.microsoft.com/office/drawing/2014/main" id="{046A98EE-17B4-FBD7-BBA2-88F00B06A3F2}"/>
              </a:ext>
            </a:extLst>
          </p:cNvPr>
          <p:cNvSpPr txBox="1">
            <a:spLocks/>
          </p:cNvSpPr>
          <p:nvPr/>
        </p:nvSpPr>
        <p:spPr>
          <a:xfrm>
            <a:off x="0" y="116544"/>
            <a:ext cx="12191999" cy="587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ESPLORAZIONE E GESTIONE DEI DATI FINALIZZATE ALLA MANUTENZIONE PREDITTIVA </a:t>
            </a:r>
          </a:p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NELL’INDUSTRIA SIDERURGICA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E751AEB-3741-E6D7-D7F9-65C6C611BCF6}"/>
              </a:ext>
            </a:extLst>
          </p:cNvPr>
          <p:cNvSpPr txBox="1"/>
          <p:nvPr/>
        </p:nvSpPr>
        <p:spPr>
          <a:xfrm>
            <a:off x="790669" y="2517747"/>
            <a:ext cx="106106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La connessione di macchinari e dispositivi tramite internet permette l’integrazione tra tecnologie operative e tecnologie dell'informazione, questo è cruciale per creare sistemi di supervisione avanzati</a:t>
            </a:r>
          </a:p>
        </p:txBody>
      </p:sp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E03EF14C-AD29-B469-5726-8DA77E42E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9325" y="3722134"/>
            <a:ext cx="3953349" cy="2041236"/>
          </a:xfrm>
          <a:prstGeom prst="rect">
            <a:avLst/>
          </a:prstGeom>
        </p:spPr>
      </p:pic>
      <p:sp>
        <p:nvSpPr>
          <p:cNvPr id="4" name="Segnaposto piè di pagina 9">
            <a:extLst>
              <a:ext uri="{FF2B5EF4-FFF2-40B4-BE49-F238E27FC236}">
                <a16:creationId xmlns:a16="http://schemas.microsoft.com/office/drawing/2014/main" id="{30F04F68-2D44-F081-CE8B-FACD72B40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1" y="6159500"/>
            <a:ext cx="7848599" cy="587374"/>
          </a:xfrm>
        </p:spPr>
        <p:txBody>
          <a:bodyPr/>
          <a:lstStyle/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MERGONI – MATR. 736132</a:t>
            </a:r>
          </a:p>
        </p:txBody>
      </p:sp>
    </p:spTree>
    <p:extLst>
      <p:ext uri="{BB962C8B-B14F-4D97-AF65-F5344CB8AC3E}">
        <p14:creationId xmlns:p14="http://schemas.microsoft.com/office/powerpoint/2010/main" val="168815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A1D05CE-7955-DE8A-32B5-4770E2AEB4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72" y="3653130"/>
            <a:ext cx="2511584" cy="1724106"/>
          </a:xfrm>
        </p:spPr>
        <p:txBody>
          <a:bodyPr>
            <a:normAutofit/>
          </a:bodyPr>
          <a:lstStyle/>
          <a:p>
            <a:pPr marL="0" marR="0" lvl="0" indent="0" algn="ctr" rtl="0">
              <a:buNone/>
            </a:pPr>
            <a:r>
              <a:rPr lang="it-IT" sz="2000" b="1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Gabbie di</a:t>
            </a:r>
          </a:p>
          <a:p>
            <a:pPr marL="0" marR="0" lvl="0" indent="0" algn="ctr" rtl="0">
              <a:buNone/>
            </a:pPr>
            <a:r>
              <a:rPr lang="it-IT" sz="2000" b="1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 laminazione</a:t>
            </a:r>
          </a:p>
          <a:p>
            <a:pPr marL="0" marR="0" lvl="0" indent="0" algn="ctr" rtl="0">
              <a:spcBef>
                <a:spcPts val="1200"/>
              </a:spcBef>
              <a:buNone/>
            </a:pPr>
            <a:r>
              <a:rPr lang="it-IT" sz="1900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800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riduzione dello spessore del materiale</a:t>
            </a:r>
          </a:p>
        </p:txBody>
      </p:sp>
      <p:sp>
        <p:nvSpPr>
          <p:cNvPr id="9" name="Segnaposto testo 2">
            <a:extLst>
              <a:ext uri="{FF2B5EF4-FFF2-40B4-BE49-F238E27FC236}">
                <a16:creationId xmlns:a16="http://schemas.microsoft.com/office/drawing/2014/main" id="{3C85A063-1D9D-96A0-8435-3E1C4B06B0D5}"/>
              </a:ext>
            </a:extLst>
          </p:cNvPr>
          <p:cNvSpPr txBox="1">
            <a:spLocks/>
          </p:cNvSpPr>
          <p:nvPr/>
        </p:nvSpPr>
        <p:spPr>
          <a:xfrm>
            <a:off x="4840206" y="3653130"/>
            <a:ext cx="2511584" cy="172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2000" b="1" kern="100" dirty="0">
                <a:latin typeface="Arial" panose="020B0604020202020204" pitchFamily="34" charset="0"/>
                <a:cs typeface="Arial" panose="020B0604020202020204" pitchFamily="34" charset="0"/>
              </a:rPr>
              <a:t>Organi di</a:t>
            </a:r>
          </a:p>
          <a:p>
            <a:pPr marL="0" indent="0" algn="ctr">
              <a:buNone/>
            </a:pPr>
            <a:r>
              <a:rPr lang="it-IT" sz="2000" b="1" kern="100" dirty="0">
                <a:latin typeface="Arial" panose="020B0604020202020204" pitchFamily="34" charset="0"/>
                <a:cs typeface="Arial" panose="020B0604020202020204" pitchFamily="34" charset="0"/>
              </a:rPr>
              <a:t> trasmissione</a:t>
            </a:r>
          </a:p>
          <a:p>
            <a:pPr marL="0" indent="0" algn="ctr">
              <a:spcBef>
                <a:spcPts val="1500"/>
              </a:spcBef>
              <a:buNone/>
            </a:pPr>
            <a:r>
              <a:rPr lang="it-IT" sz="1800" kern="100" dirty="0">
                <a:latin typeface="Arial" panose="020B0604020202020204" pitchFamily="34" charset="0"/>
                <a:cs typeface="Arial" panose="020B0604020202020204" pitchFamily="34" charset="0"/>
              </a:rPr>
              <a:t>trasmissione del movimento ai rulli</a:t>
            </a:r>
            <a:endParaRPr lang="it-IT" sz="200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BB6A46C-21E1-5292-6481-CC957B655B47}"/>
              </a:ext>
            </a:extLst>
          </p:cNvPr>
          <p:cNvSpPr/>
          <p:nvPr/>
        </p:nvSpPr>
        <p:spPr>
          <a:xfrm>
            <a:off x="0" y="6057104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Segnaposto numero diapositiva 10">
            <a:extLst>
              <a:ext uri="{FF2B5EF4-FFF2-40B4-BE49-F238E27FC236}">
                <a16:creationId xmlns:a16="http://schemas.microsoft.com/office/drawing/2014/main" id="{E8700225-A43A-AC4A-F348-B0BF5E51B74B}"/>
              </a:ext>
            </a:extLst>
          </p:cNvPr>
          <p:cNvSpPr txBox="1">
            <a:spLocks/>
          </p:cNvSpPr>
          <p:nvPr/>
        </p:nvSpPr>
        <p:spPr>
          <a:xfrm>
            <a:off x="8763000" y="6279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622932-1A33-4A7C-8CDC-F226463C0A5C}" type="slidenum">
              <a:rPr lang="it-IT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it-IT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3A1545CD-FB55-CDB1-7903-A81AB5AC5886}"/>
              </a:ext>
            </a:extLst>
          </p:cNvPr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Segnaposto piè di pagina 9">
            <a:extLst>
              <a:ext uri="{FF2B5EF4-FFF2-40B4-BE49-F238E27FC236}">
                <a16:creationId xmlns:a16="http://schemas.microsoft.com/office/drawing/2014/main" id="{346D5984-0298-5304-D27C-D204F743A030}"/>
              </a:ext>
            </a:extLst>
          </p:cNvPr>
          <p:cNvSpPr txBox="1">
            <a:spLocks/>
          </p:cNvSpPr>
          <p:nvPr/>
        </p:nvSpPr>
        <p:spPr>
          <a:xfrm>
            <a:off x="0" y="116544"/>
            <a:ext cx="12191999" cy="587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ESPLORAZIONE E GESTIONE DEI DATI FINALIZZATE ALLA MANUTENZIONE PREDITTIVA </a:t>
            </a:r>
          </a:p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NELL’INDUSTRIA SIDERURGICA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0BD5D870-E0FE-600D-16EF-3CAF3849F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394"/>
            <a:ext cx="10515600" cy="1325563"/>
          </a:xfrm>
        </p:spPr>
        <p:txBody>
          <a:bodyPr/>
          <a:lstStyle/>
          <a:p>
            <a:pPr marR="0" algn="ctr" rtl="0"/>
            <a:r>
              <a:rPr lang="it-IT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Il laminatoio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0C01E60-7073-37D7-C746-188AB46308C7}"/>
              </a:ext>
            </a:extLst>
          </p:cNvPr>
          <p:cNvSpPr txBox="1"/>
          <p:nvPr/>
        </p:nvSpPr>
        <p:spPr>
          <a:xfrm>
            <a:off x="1024172" y="2246211"/>
            <a:ext cx="10143653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it-IT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impianto di laminazione è essenzialmente composto da treni di laminazione, forni di riscaldo e vari dispositivi accessori. </a:t>
            </a:r>
            <a:r>
              <a:rPr lang="it-IT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 treni di laminazione sono a loro volta composti da:</a:t>
            </a:r>
            <a:endParaRPr lang="it-IT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egnaposto testo 2">
            <a:extLst>
              <a:ext uri="{FF2B5EF4-FFF2-40B4-BE49-F238E27FC236}">
                <a16:creationId xmlns:a16="http://schemas.microsoft.com/office/drawing/2014/main" id="{2576AE4D-5C49-855C-DE5C-026869214DA8}"/>
              </a:ext>
            </a:extLst>
          </p:cNvPr>
          <p:cNvSpPr txBox="1">
            <a:spLocks/>
          </p:cNvSpPr>
          <p:nvPr/>
        </p:nvSpPr>
        <p:spPr>
          <a:xfrm>
            <a:off x="8284294" y="3653130"/>
            <a:ext cx="2883531" cy="172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2000" b="1" kern="100" dirty="0">
                <a:latin typeface="Arial" panose="020B0604020202020204" pitchFamily="34" charset="0"/>
                <a:cs typeface="Arial" panose="020B0604020202020204" pitchFamily="34" charset="0"/>
              </a:rPr>
              <a:t>Azionamenti elettrici e </a:t>
            </a:r>
          </a:p>
          <a:p>
            <a:pPr marL="0" indent="0" algn="ctr">
              <a:buNone/>
            </a:pPr>
            <a:r>
              <a:rPr lang="it-IT" sz="2000" b="1" kern="100" dirty="0">
                <a:latin typeface="Arial" panose="020B0604020202020204" pitchFamily="34" charset="0"/>
                <a:cs typeface="Arial" panose="020B0604020202020204" pitchFamily="34" charset="0"/>
              </a:rPr>
              <a:t>sistemi di controllo</a:t>
            </a:r>
          </a:p>
          <a:p>
            <a:pPr marL="0" indent="0" algn="ctr">
              <a:spcBef>
                <a:spcPts val="1500"/>
              </a:spcBef>
              <a:buNone/>
            </a:pPr>
            <a:r>
              <a:rPr lang="it-IT" sz="1800" kern="100" dirty="0">
                <a:latin typeface="Arial" panose="020B0604020202020204" pitchFamily="34" charset="0"/>
                <a:cs typeface="Arial" panose="020B0604020202020204" pitchFamily="34" charset="0"/>
              </a:rPr>
              <a:t>regolazione della velocità e della forza dei rulli</a:t>
            </a:r>
          </a:p>
        </p:txBody>
      </p:sp>
      <p:sp>
        <p:nvSpPr>
          <p:cNvPr id="6" name="Segnaposto piè di pagina 9">
            <a:extLst>
              <a:ext uri="{FF2B5EF4-FFF2-40B4-BE49-F238E27FC236}">
                <a16:creationId xmlns:a16="http://schemas.microsoft.com/office/drawing/2014/main" id="{4B3AF4AE-8735-7719-D89D-14D2F8156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1" y="6159500"/>
            <a:ext cx="7848599" cy="587374"/>
          </a:xfrm>
        </p:spPr>
        <p:txBody>
          <a:bodyPr/>
          <a:lstStyle/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MERGONI – MATR. 736132</a:t>
            </a:r>
          </a:p>
        </p:txBody>
      </p:sp>
    </p:spTree>
    <p:extLst>
      <p:ext uri="{BB962C8B-B14F-4D97-AF65-F5344CB8AC3E}">
        <p14:creationId xmlns:p14="http://schemas.microsoft.com/office/powerpoint/2010/main" val="311681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2">
            <a:extLst>
              <a:ext uri="{FF2B5EF4-FFF2-40B4-BE49-F238E27FC236}">
                <a16:creationId xmlns:a16="http://schemas.microsoft.com/office/drawing/2014/main" id="{AB7C3560-9544-2D90-E8C1-D5F2B76AC52A}"/>
              </a:ext>
            </a:extLst>
          </p:cNvPr>
          <p:cNvSpPr txBox="1">
            <a:spLocks/>
          </p:cNvSpPr>
          <p:nvPr/>
        </p:nvSpPr>
        <p:spPr>
          <a:xfrm>
            <a:off x="491904" y="2720959"/>
            <a:ext cx="3594983" cy="2412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b="1" kern="100" dirty="0" err="1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r>
              <a:rPr lang="it-IT" b="1" kern="100" dirty="0">
                <a:latin typeface="Arial" panose="020B0604020202020204" pitchFamily="34" charset="0"/>
                <a:cs typeface="Arial" panose="020B0604020202020204" pitchFamily="34" charset="0"/>
              </a:rPr>
              <a:t>-Red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it-IT" kern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software che consente di </a:t>
            </a:r>
            <a:r>
              <a:rPr lang="it-IT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connettere dispositivi </a:t>
            </a:r>
            <a:r>
              <a:rPr lang="it-IT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hardware, API e servizi online</a:t>
            </a:r>
            <a:endParaRPr lang="it-IT" sz="2400" b="0" i="0" u="none" strike="noStrike" kern="100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spcBef>
                <a:spcPts val="1200"/>
              </a:spcBef>
              <a:buFont typeface="Arial" panose="020B0604020202020204" pitchFamily="34" charset="0"/>
              <a:buNone/>
            </a:pPr>
            <a:endParaRPr lang="it-IT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egnaposto testo 2">
            <a:extLst>
              <a:ext uri="{FF2B5EF4-FFF2-40B4-BE49-F238E27FC236}">
                <a16:creationId xmlns:a16="http://schemas.microsoft.com/office/drawing/2014/main" id="{368BFD9E-7FFA-4496-6769-ED91285E277D}"/>
              </a:ext>
            </a:extLst>
          </p:cNvPr>
          <p:cNvSpPr txBox="1">
            <a:spLocks/>
          </p:cNvSpPr>
          <p:nvPr/>
        </p:nvSpPr>
        <p:spPr>
          <a:xfrm>
            <a:off x="-447397" y="1187406"/>
            <a:ext cx="3594983" cy="2765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it-IT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13E4606-98B4-B37D-8BDE-6F61BE5DE6BB}"/>
              </a:ext>
            </a:extLst>
          </p:cNvPr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Segnaposto piè di pagina 9">
            <a:extLst>
              <a:ext uri="{FF2B5EF4-FFF2-40B4-BE49-F238E27FC236}">
                <a16:creationId xmlns:a16="http://schemas.microsoft.com/office/drawing/2014/main" id="{C058A33E-0EB9-22DC-3FDE-D565DB80509E}"/>
              </a:ext>
            </a:extLst>
          </p:cNvPr>
          <p:cNvSpPr txBox="1">
            <a:spLocks/>
          </p:cNvSpPr>
          <p:nvPr/>
        </p:nvSpPr>
        <p:spPr>
          <a:xfrm>
            <a:off x="0" y="116544"/>
            <a:ext cx="12191999" cy="587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ESPLORAZIONE E GESTIONE DEI DATI FINALIZZATE ALLA MANUTENZIONE PREDITTIVA </a:t>
            </a:r>
          </a:p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NELL’INDUSTRIA SIDERURGICA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AB8DC42-5C1F-58E0-C64A-D7E64999FE29}"/>
              </a:ext>
            </a:extLst>
          </p:cNvPr>
          <p:cNvSpPr/>
          <p:nvPr/>
        </p:nvSpPr>
        <p:spPr>
          <a:xfrm>
            <a:off x="0" y="6048375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Segnaposto numero diapositiva 10">
            <a:extLst>
              <a:ext uri="{FF2B5EF4-FFF2-40B4-BE49-F238E27FC236}">
                <a16:creationId xmlns:a16="http://schemas.microsoft.com/office/drawing/2014/main" id="{DBF8E160-07F2-68BD-0C0E-29BD7F7E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279355"/>
            <a:ext cx="2743200" cy="365125"/>
          </a:xfrm>
        </p:spPr>
        <p:txBody>
          <a:bodyPr/>
          <a:lstStyle/>
          <a:p>
            <a:fld id="{4F622932-1A33-4A7C-8CDC-F226463C0A5C}" type="slidenum">
              <a:rPr lang="it-IT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it-IT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ACC07A07-63D5-48C0-40E8-D4A3037DF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394"/>
            <a:ext cx="10515600" cy="1325563"/>
          </a:xfrm>
        </p:spPr>
        <p:txBody>
          <a:bodyPr/>
          <a:lstStyle/>
          <a:p>
            <a:pPr marR="0" algn="ctr" rtl="0"/>
            <a:r>
              <a:rPr lang="it-IT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Componenti del progetto</a:t>
            </a:r>
          </a:p>
        </p:txBody>
      </p:sp>
      <p:sp>
        <p:nvSpPr>
          <p:cNvPr id="4" name="Segnaposto testo 2">
            <a:extLst>
              <a:ext uri="{FF2B5EF4-FFF2-40B4-BE49-F238E27FC236}">
                <a16:creationId xmlns:a16="http://schemas.microsoft.com/office/drawing/2014/main" id="{B2EEF573-5BC7-FDA9-6B1F-37126CD8F176}"/>
              </a:ext>
            </a:extLst>
          </p:cNvPr>
          <p:cNvSpPr txBox="1">
            <a:spLocks/>
          </p:cNvSpPr>
          <p:nvPr/>
        </p:nvSpPr>
        <p:spPr>
          <a:xfrm>
            <a:off x="4195901" y="2720959"/>
            <a:ext cx="3594983" cy="3216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b="1" kern="100" dirty="0">
                <a:latin typeface="Arial" panose="020B0604020202020204" pitchFamily="34" charset="0"/>
                <a:cs typeface="Arial" panose="020B0604020202020204" pitchFamily="34" charset="0"/>
              </a:rPr>
              <a:t>Grafana</a:t>
            </a:r>
          </a:p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it-IT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strumento per </a:t>
            </a:r>
            <a:r>
              <a:rPr lang="it-IT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creare dashboard</a:t>
            </a:r>
            <a:r>
              <a:rPr lang="it-IT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interattive che mostrano lo stato del sistema attraverso grafici e diagrammi</a:t>
            </a:r>
            <a:endParaRPr lang="it-IT" sz="240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egnaposto testo 2">
            <a:extLst>
              <a:ext uri="{FF2B5EF4-FFF2-40B4-BE49-F238E27FC236}">
                <a16:creationId xmlns:a16="http://schemas.microsoft.com/office/drawing/2014/main" id="{95E5A636-0B69-37D3-70D5-DA0D42987B42}"/>
              </a:ext>
            </a:extLst>
          </p:cNvPr>
          <p:cNvSpPr txBox="1">
            <a:spLocks/>
          </p:cNvSpPr>
          <p:nvPr/>
        </p:nvSpPr>
        <p:spPr>
          <a:xfrm>
            <a:off x="7899898" y="2720959"/>
            <a:ext cx="3594983" cy="2412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b="1" kern="100" dirty="0">
                <a:latin typeface="Arial" panose="020B0604020202020204" pitchFamily="34" charset="0"/>
                <a:cs typeface="Arial" panose="020B0604020202020204" pitchFamily="34" charset="0"/>
              </a:rPr>
              <a:t>Microsoft SQL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it-IT" kern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sistema di </a:t>
            </a:r>
            <a:r>
              <a:rPr lang="it-IT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gestione di database</a:t>
            </a:r>
            <a:r>
              <a:rPr lang="it-IT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relazionali</a:t>
            </a:r>
            <a:endParaRPr lang="it-IT" sz="2400" b="0" i="0" u="none" strike="noStrike" kern="100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spcBef>
                <a:spcPts val="1200"/>
              </a:spcBef>
              <a:buFont typeface="Arial" panose="020B0604020202020204" pitchFamily="34" charset="0"/>
              <a:buNone/>
            </a:pPr>
            <a:endParaRPr lang="it-IT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egnaposto piè di pagina 9">
            <a:extLst>
              <a:ext uri="{FF2B5EF4-FFF2-40B4-BE49-F238E27FC236}">
                <a16:creationId xmlns:a16="http://schemas.microsoft.com/office/drawing/2014/main" id="{7A65FE7A-78BE-A9D2-D4C8-C63B301C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1" y="6159500"/>
            <a:ext cx="7848599" cy="587374"/>
          </a:xfrm>
        </p:spPr>
        <p:txBody>
          <a:bodyPr/>
          <a:lstStyle/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MERGONI – MATR. 736132</a:t>
            </a:r>
          </a:p>
        </p:txBody>
      </p:sp>
    </p:spTree>
    <p:extLst>
      <p:ext uri="{BB962C8B-B14F-4D97-AF65-F5344CB8AC3E}">
        <p14:creationId xmlns:p14="http://schemas.microsoft.com/office/powerpoint/2010/main" val="223117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984D3D7-F202-A264-9227-8EB684A300E7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r="2084" b="-1"/>
          <a:stretch/>
        </p:blipFill>
        <p:spPr>
          <a:xfrm>
            <a:off x="893480" y="3927023"/>
            <a:ext cx="4097970" cy="2119170"/>
          </a:xfrm>
          <a:prstGeom prst="rect">
            <a:avLst/>
          </a:prstGeom>
        </p:spPr>
      </p:pic>
      <p:pic>
        <p:nvPicPr>
          <p:cNvPr id="4" name="Immagine 3" descr="Immagine che contiene testo, schermata, software, schermo&#10;&#10;Descrizione generata automaticamente">
            <a:extLst>
              <a:ext uri="{FF2B5EF4-FFF2-40B4-BE49-F238E27FC236}">
                <a16:creationId xmlns:a16="http://schemas.microsoft.com/office/drawing/2014/main" id="{9026E33C-E81F-6D74-F816-8FD00A9A3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20"/>
          <a:stretch/>
        </p:blipFill>
        <p:spPr>
          <a:xfrm>
            <a:off x="4994499" y="2303187"/>
            <a:ext cx="6511701" cy="3740823"/>
          </a:xfrm>
          <a:prstGeom prst="rect">
            <a:avLst/>
          </a:prstGeom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29C2E60E-A94A-CC69-7177-649AB714DB08}"/>
              </a:ext>
            </a:extLst>
          </p:cNvPr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Segnaposto piè di pagina 9">
            <a:extLst>
              <a:ext uri="{FF2B5EF4-FFF2-40B4-BE49-F238E27FC236}">
                <a16:creationId xmlns:a16="http://schemas.microsoft.com/office/drawing/2014/main" id="{E049E66B-6D7B-1F0E-E944-5DC5AC4E360B}"/>
              </a:ext>
            </a:extLst>
          </p:cNvPr>
          <p:cNvSpPr txBox="1">
            <a:spLocks/>
          </p:cNvSpPr>
          <p:nvPr/>
        </p:nvSpPr>
        <p:spPr>
          <a:xfrm>
            <a:off x="0" y="116544"/>
            <a:ext cx="12191999" cy="587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ESPLORAZIONE E GESTIONE DEI DATI FINALIZZATE ALLA MANUTENZIONE PREDITTIVA </a:t>
            </a:r>
          </a:p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NELL’INDUSTRIA SIDERURGICA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7E180CA-9D2F-DD12-7C99-24E26121D99E}"/>
              </a:ext>
            </a:extLst>
          </p:cNvPr>
          <p:cNvSpPr/>
          <p:nvPr/>
        </p:nvSpPr>
        <p:spPr>
          <a:xfrm>
            <a:off x="0" y="6048375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Segnaposto numero diapositiva 10">
            <a:extLst>
              <a:ext uri="{FF2B5EF4-FFF2-40B4-BE49-F238E27FC236}">
                <a16:creationId xmlns:a16="http://schemas.microsoft.com/office/drawing/2014/main" id="{4245805F-7A55-8DD9-B7D3-5210BDF8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279355"/>
            <a:ext cx="2743200" cy="365125"/>
          </a:xfrm>
        </p:spPr>
        <p:txBody>
          <a:bodyPr/>
          <a:lstStyle/>
          <a:p>
            <a:fld id="{4F622932-1A33-4A7C-8CDC-F226463C0A5C}" type="slidenum">
              <a:rPr lang="it-IT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it-IT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olo 1">
            <a:extLst>
              <a:ext uri="{FF2B5EF4-FFF2-40B4-BE49-F238E27FC236}">
                <a16:creationId xmlns:a16="http://schemas.microsoft.com/office/drawing/2014/main" id="{30CD5D19-0204-E81E-3331-9E08B5714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394"/>
            <a:ext cx="10515600" cy="1325563"/>
          </a:xfrm>
        </p:spPr>
        <p:txBody>
          <a:bodyPr/>
          <a:lstStyle/>
          <a:p>
            <a:pPr marR="0" algn="ctr" rtl="0"/>
            <a:r>
              <a:rPr lang="it-IT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Virtualizzazione con Docker</a:t>
            </a:r>
          </a:p>
        </p:txBody>
      </p:sp>
      <p:sp>
        <p:nvSpPr>
          <p:cNvPr id="3" name="Segnaposto piè di pagina 9">
            <a:extLst>
              <a:ext uri="{FF2B5EF4-FFF2-40B4-BE49-F238E27FC236}">
                <a16:creationId xmlns:a16="http://schemas.microsoft.com/office/drawing/2014/main" id="{1B9828A8-6DCC-5746-1B11-78DACFA73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1" y="6159500"/>
            <a:ext cx="7848599" cy="587374"/>
          </a:xfrm>
        </p:spPr>
        <p:txBody>
          <a:bodyPr/>
          <a:lstStyle/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MERGONI – MATR. 736132</a:t>
            </a:r>
          </a:p>
        </p:txBody>
      </p:sp>
    </p:spTree>
    <p:extLst>
      <p:ext uri="{BB962C8B-B14F-4D97-AF65-F5344CB8AC3E}">
        <p14:creationId xmlns:p14="http://schemas.microsoft.com/office/powerpoint/2010/main" val="163740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7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1B9EF1B-46CB-3B60-447C-2677735AD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86324"/>
            <a:ext cx="1941901" cy="299195"/>
          </a:xfr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>
              <a:buNone/>
            </a:pPr>
            <a:r>
              <a:rPr lang="en-US" sz="1800" dirty="0" err="1"/>
              <a:t>Riduzione</a:t>
            </a:r>
            <a:r>
              <a:rPr lang="en-US" sz="1800" dirty="0"/>
              <a:t> </a:t>
            </a:r>
            <a:r>
              <a:rPr lang="en-US" sz="1800" dirty="0" err="1"/>
              <a:t>dei</a:t>
            </a:r>
            <a:r>
              <a:rPr lang="en-US" sz="1800" dirty="0"/>
              <a:t> </a:t>
            </a:r>
            <a:r>
              <a:rPr lang="en-US" sz="1800" dirty="0" err="1"/>
              <a:t>costi</a:t>
            </a:r>
            <a:endParaRPr lang="en-US" sz="1800" dirty="0"/>
          </a:p>
        </p:txBody>
      </p:sp>
      <p:pic>
        <p:nvPicPr>
          <p:cNvPr id="5" name="Immagine 4" descr="Immagine che contiene testo, schermata, numero, Parallelo&#10;&#10;Descrizione generata automaticamente">
            <a:extLst>
              <a:ext uri="{FF2B5EF4-FFF2-40B4-BE49-F238E27FC236}">
                <a16:creationId xmlns:a16="http://schemas.microsoft.com/office/drawing/2014/main" id="{C60FA28C-B70E-4FF1-1E07-8C135CD9B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198" y="2235709"/>
            <a:ext cx="7852753" cy="3631897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1C03639D-8A6F-BB99-1CC5-11FFD3667FF0}"/>
              </a:ext>
            </a:extLst>
          </p:cNvPr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Segnaposto piè di pagina 9">
            <a:extLst>
              <a:ext uri="{FF2B5EF4-FFF2-40B4-BE49-F238E27FC236}">
                <a16:creationId xmlns:a16="http://schemas.microsoft.com/office/drawing/2014/main" id="{D9621B20-3039-3789-68F9-22FAD0981883}"/>
              </a:ext>
            </a:extLst>
          </p:cNvPr>
          <p:cNvSpPr txBox="1">
            <a:spLocks/>
          </p:cNvSpPr>
          <p:nvPr/>
        </p:nvSpPr>
        <p:spPr>
          <a:xfrm>
            <a:off x="0" y="116544"/>
            <a:ext cx="12191999" cy="587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ESPLORAZIONE E GESTIONE DEI DATI FINALIZZATE ALLA MANUTENZIONE PREDITTIVA </a:t>
            </a:r>
          </a:p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NELL’INDUSTRIA SIDERURGICA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F19F816-E66A-0AED-9B0F-6AC29E7F9BA1}"/>
              </a:ext>
            </a:extLst>
          </p:cNvPr>
          <p:cNvSpPr/>
          <p:nvPr/>
        </p:nvSpPr>
        <p:spPr>
          <a:xfrm>
            <a:off x="0" y="6048375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Segnaposto numero diapositiva 10">
            <a:extLst>
              <a:ext uri="{FF2B5EF4-FFF2-40B4-BE49-F238E27FC236}">
                <a16:creationId xmlns:a16="http://schemas.microsoft.com/office/drawing/2014/main" id="{85BDC248-5A4E-E484-5374-5057E69E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279355"/>
            <a:ext cx="2743200" cy="365125"/>
          </a:xfrm>
        </p:spPr>
        <p:txBody>
          <a:bodyPr/>
          <a:lstStyle/>
          <a:p>
            <a:fld id="{4F622932-1A33-4A7C-8CDC-F226463C0A5C}" type="slidenum">
              <a:rPr lang="it-IT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it-IT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olo 1">
            <a:extLst>
              <a:ext uri="{FF2B5EF4-FFF2-40B4-BE49-F238E27FC236}">
                <a16:creationId xmlns:a16="http://schemas.microsoft.com/office/drawing/2014/main" id="{FE16A645-369E-39CB-D781-605C4413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394"/>
            <a:ext cx="10515600" cy="1325563"/>
          </a:xfrm>
        </p:spPr>
        <p:txBody>
          <a:bodyPr/>
          <a:lstStyle/>
          <a:p>
            <a:pPr marR="0" algn="ctr" rtl="0"/>
            <a:r>
              <a:rPr lang="it-IT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Sviluppo in simulazione</a:t>
            </a:r>
          </a:p>
        </p:txBody>
      </p:sp>
      <p:pic>
        <p:nvPicPr>
          <p:cNvPr id="4" name="Elemento grafico 3" descr="Euro con riempimento a tinta unita">
            <a:extLst>
              <a:ext uri="{FF2B5EF4-FFF2-40B4-BE49-F238E27FC236}">
                <a16:creationId xmlns:a16="http://schemas.microsoft.com/office/drawing/2014/main" id="{8B66A7F3-8B81-7E33-AF4F-83854ABC57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783" y="2724738"/>
            <a:ext cx="243532" cy="24353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F3F6600-57A1-58DA-63FA-0F15F00CD6C5}"/>
              </a:ext>
            </a:extLst>
          </p:cNvPr>
          <p:cNvSpPr txBox="1"/>
          <p:nvPr/>
        </p:nvSpPr>
        <p:spPr>
          <a:xfrm>
            <a:off x="311790" y="4266512"/>
            <a:ext cx="43259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/>
            <a:endParaRPr lang="en-US" sz="1800" dirty="0"/>
          </a:p>
          <a:p>
            <a:pPr marL="0" marR="0" lvl="0"/>
            <a:r>
              <a:rPr lang="en-US" sz="2000" dirty="0"/>
              <a:t>Sono </a:t>
            </a:r>
            <a:r>
              <a:rPr lang="en-US" sz="2000" dirty="0" err="1"/>
              <a:t>stati</a:t>
            </a:r>
            <a:r>
              <a:rPr lang="en-US" sz="2000" dirty="0"/>
              <a:t> </a:t>
            </a:r>
            <a:r>
              <a:rPr lang="en-US" sz="2000" dirty="0" err="1"/>
              <a:t>simulati</a:t>
            </a:r>
            <a:r>
              <a:rPr lang="en-US" sz="2000" dirty="0"/>
              <a:t> il </a:t>
            </a:r>
            <a:r>
              <a:rPr lang="en-US" sz="2000" b="0" i="0" u="none" strike="noStrike" baseline="0" dirty="0" err="1"/>
              <a:t>livello</a:t>
            </a:r>
            <a:r>
              <a:rPr lang="en-US" sz="2000" b="0" i="0" u="none" strike="noStrike" baseline="0" dirty="0"/>
              <a:t> 4 (ERP) e </a:t>
            </a:r>
            <a:r>
              <a:rPr lang="en-US" sz="2000" b="0" i="0" u="none" strike="noStrike" baseline="0" dirty="0" err="1"/>
              <a:t>livello</a:t>
            </a:r>
            <a:r>
              <a:rPr lang="en-US" sz="2000" b="0" i="0" u="none" strike="noStrike" baseline="0" dirty="0"/>
              <a:t> 1 (PLC) </a:t>
            </a:r>
            <a:r>
              <a:rPr lang="en-US" sz="2000" b="0" i="0" u="none" strike="noStrike" baseline="0" dirty="0" err="1"/>
              <a:t>attraverso</a:t>
            </a:r>
            <a:r>
              <a:rPr lang="en-US" sz="2000" b="0" i="0" u="none" strike="noStrike" baseline="0" dirty="0"/>
              <a:t> la dashboard </a:t>
            </a:r>
          </a:p>
          <a:p>
            <a:pPr marL="0" marR="0" lvl="0"/>
            <a:r>
              <a:rPr lang="en-US" sz="2000" b="0" i="0" u="none" strike="noStrike" baseline="0" dirty="0"/>
              <a:t>di Node-Red</a:t>
            </a:r>
          </a:p>
          <a:p>
            <a:endParaRPr lang="it-IT" dirty="0"/>
          </a:p>
        </p:txBody>
      </p:sp>
      <p:sp>
        <p:nvSpPr>
          <p:cNvPr id="7" name="Segnaposto testo 2">
            <a:extLst>
              <a:ext uri="{FF2B5EF4-FFF2-40B4-BE49-F238E27FC236}">
                <a16:creationId xmlns:a16="http://schemas.microsoft.com/office/drawing/2014/main" id="{12F8B619-F8DE-0D79-5EE7-05F3D26DF4F3}"/>
              </a:ext>
            </a:extLst>
          </p:cNvPr>
          <p:cNvSpPr txBox="1">
            <a:spLocks/>
          </p:cNvSpPr>
          <p:nvPr/>
        </p:nvSpPr>
        <p:spPr>
          <a:xfrm>
            <a:off x="835150" y="2995732"/>
            <a:ext cx="2098173" cy="299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/>
              <a:t>Riduzione</a:t>
            </a:r>
            <a:r>
              <a:rPr lang="en-US" sz="1800" dirty="0"/>
              <a:t> </a:t>
            </a:r>
            <a:r>
              <a:rPr lang="en-US" sz="1800" dirty="0" err="1"/>
              <a:t>dei</a:t>
            </a:r>
            <a:r>
              <a:rPr lang="en-US" sz="1800" dirty="0"/>
              <a:t> </a:t>
            </a:r>
            <a:r>
              <a:rPr lang="en-US" sz="1800" dirty="0" err="1"/>
              <a:t>rischi</a:t>
            </a:r>
            <a:endParaRPr lang="en-US" sz="1800" dirty="0"/>
          </a:p>
        </p:txBody>
      </p:sp>
      <p:pic>
        <p:nvPicPr>
          <p:cNvPr id="9" name="Elemento grafico 8" descr="Avviso con riempimento a tinta unita">
            <a:extLst>
              <a:ext uri="{FF2B5EF4-FFF2-40B4-BE49-F238E27FC236}">
                <a16:creationId xmlns:a16="http://schemas.microsoft.com/office/drawing/2014/main" id="{FDD6E069-60D6-26BF-AF61-5B70F45899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1730" y="3031878"/>
            <a:ext cx="236642" cy="236642"/>
          </a:xfrm>
          <a:prstGeom prst="rect">
            <a:avLst/>
          </a:prstGeom>
        </p:spPr>
      </p:pic>
      <p:sp>
        <p:nvSpPr>
          <p:cNvPr id="10" name="Segnaposto testo 2">
            <a:extLst>
              <a:ext uri="{FF2B5EF4-FFF2-40B4-BE49-F238E27FC236}">
                <a16:creationId xmlns:a16="http://schemas.microsoft.com/office/drawing/2014/main" id="{B76EB653-E161-CECC-B1AD-78EACAEE39A4}"/>
              </a:ext>
            </a:extLst>
          </p:cNvPr>
          <p:cNvSpPr txBox="1">
            <a:spLocks/>
          </p:cNvSpPr>
          <p:nvPr/>
        </p:nvSpPr>
        <p:spPr>
          <a:xfrm>
            <a:off x="835149" y="3340298"/>
            <a:ext cx="3709691" cy="299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/>
              <a:t>Rapidità</a:t>
            </a:r>
            <a:r>
              <a:rPr lang="en-US" sz="1800" dirty="0"/>
              <a:t> </a:t>
            </a:r>
            <a:r>
              <a:rPr lang="en-US" sz="1800" dirty="0" err="1"/>
              <a:t>nella</a:t>
            </a:r>
            <a:r>
              <a:rPr lang="en-US" sz="1800" dirty="0"/>
              <a:t> </a:t>
            </a:r>
            <a:r>
              <a:rPr lang="en-US" sz="1800" dirty="0" err="1"/>
              <a:t>valutazione</a:t>
            </a:r>
            <a:r>
              <a:rPr lang="en-US" sz="1800" dirty="0"/>
              <a:t> del </a:t>
            </a:r>
            <a:r>
              <a:rPr lang="en-US" sz="1800" dirty="0" err="1"/>
              <a:t>problema</a:t>
            </a:r>
            <a:endParaRPr lang="en-US" sz="1800" dirty="0"/>
          </a:p>
        </p:txBody>
      </p:sp>
      <p:pic>
        <p:nvPicPr>
          <p:cNvPr id="13" name="Elemento grafico 12" descr="Cronometro con riempimento a tinta unita">
            <a:extLst>
              <a:ext uri="{FF2B5EF4-FFF2-40B4-BE49-F238E27FC236}">
                <a16:creationId xmlns:a16="http://schemas.microsoft.com/office/drawing/2014/main" id="{D967F165-F1DF-A9AD-B7BD-87E894A668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922" y="3330748"/>
            <a:ext cx="311316" cy="311316"/>
          </a:xfrm>
          <a:prstGeom prst="rect">
            <a:avLst/>
          </a:prstGeom>
        </p:spPr>
      </p:pic>
      <p:sp>
        <p:nvSpPr>
          <p:cNvPr id="8" name="Segnaposto piè di pagina 9">
            <a:extLst>
              <a:ext uri="{FF2B5EF4-FFF2-40B4-BE49-F238E27FC236}">
                <a16:creationId xmlns:a16="http://schemas.microsoft.com/office/drawing/2014/main" id="{282F46B6-CCE3-7963-F3D1-6024A2D17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1" y="6159500"/>
            <a:ext cx="7848599" cy="587374"/>
          </a:xfrm>
        </p:spPr>
        <p:txBody>
          <a:bodyPr/>
          <a:lstStyle/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MERGONI – MATR. 736132</a:t>
            </a:r>
          </a:p>
        </p:txBody>
      </p:sp>
    </p:spTree>
    <p:extLst>
      <p:ext uri="{BB962C8B-B14F-4D97-AF65-F5344CB8AC3E}">
        <p14:creationId xmlns:p14="http://schemas.microsoft.com/office/powerpoint/2010/main" val="114511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 descr="Immagine che contiene testo, microfono, elettrodomestico&#10;&#10;Descrizione generata automaticamente">
            <a:extLst>
              <a:ext uri="{FF2B5EF4-FFF2-40B4-BE49-F238E27FC236}">
                <a16:creationId xmlns:a16="http://schemas.microsoft.com/office/drawing/2014/main" id="{81871BDC-B72A-BE21-C223-A746D85F5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237" y="2394338"/>
            <a:ext cx="7004477" cy="3046948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B528CF4A-1580-1860-C0D0-6351AC2DF45F}"/>
              </a:ext>
            </a:extLst>
          </p:cNvPr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BEC6F8CC-AC7D-FD24-54CC-EB420A776646}"/>
              </a:ext>
            </a:extLst>
          </p:cNvPr>
          <p:cNvSpPr txBox="1">
            <a:spLocks/>
          </p:cNvSpPr>
          <p:nvPr/>
        </p:nvSpPr>
        <p:spPr>
          <a:xfrm>
            <a:off x="0" y="116544"/>
            <a:ext cx="12191999" cy="587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ESPLORAZIONE E GESTIONE DEI DATI FINALIZZATE ALLA MANUTENZIONE PREDITTIVA </a:t>
            </a:r>
          </a:p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NELL’INDUSTRIA SIDERURGICA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B143DEB8-EE88-8A2F-792E-0079B6799288}"/>
              </a:ext>
            </a:extLst>
          </p:cNvPr>
          <p:cNvSpPr/>
          <p:nvPr/>
        </p:nvSpPr>
        <p:spPr>
          <a:xfrm>
            <a:off x="0" y="6048375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Segnaposto numero diapositiva 10">
            <a:extLst>
              <a:ext uri="{FF2B5EF4-FFF2-40B4-BE49-F238E27FC236}">
                <a16:creationId xmlns:a16="http://schemas.microsoft.com/office/drawing/2014/main" id="{8D163ABC-B2FF-BD89-5788-2464E3BC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279355"/>
            <a:ext cx="2743200" cy="365125"/>
          </a:xfrm>
        </p:spPr>
        <p:txBody>
          <a:bodyPr/>
          <a:lstStyle/>
          <a:p>
            <a:fld id="{4F622932-1A33-4A7C-8CDC-F226463C0A5C}" type="slidenum">
              <a:rPr lang="it-IT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it-IT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olo 1">
            <a:extLst>
              <a:ext uri="{FF2B5EF4-FFF2-40B4-BE49-F238E27FC236}">
                <a16:creationId xmlns:a16="http://schemas.microsoft.com/office/drawing/2014/main" id="{CE67EA63-AB16-18DB-CB53-66F50F843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394"/>
            <a:ext cx="10515600" cy="1325563"/>
          </a:xfrm>
        </p:spPr>
        <p:txBody>
          <a:bodyPr/>
          <a:lstStyle/>
          <a:p>
            <a:pPr marR="0" algn="ctr" rtl="0"/>
            <a:r>
              <a:rPr lang="it-IT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Implementazione del sistema</a:t>
            </a:r>
          </a:p>
        </p:txBody>
      </p:sp>
      <p:sp>
        <p:nvSpPr>
          <p:cNvPr id="3" name="Segnaposto piè di pagina 9">
            <a:extLst>
              <a:ext uri="{FF2B5EF4-FFF2-40B4-BE49-F238E27FC236}">
                <a16:creationId xmlns:a16="http://schemas.microsoft.com/office/drawing/2014/main" id="{8ED59ED8-644E-DC1E-1C12-0F9DE2797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1" y="6159500"/>
            <a:ext cx="7848599" cy="587374"/>
          </a:xfrm>
        </p:spPr>
        <p:txBody>
          <a:bodyPr/>
          <a:lstStyle/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MERGONI – MATR. 736132</a:t>
            </a:r>
          </a:p>
        </p:txBody>
      </p:sp>
    </p:spTree>
    <p:extLst>
      <p:ext uri="{BB962C8B-B14F-4D97-AF65-F5344CB8AC3E}">
        <p14:creationId xmlns:p14="http://schemas.microsoft.com/office/powerpoint/2010/main" val="456684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magine 7" descr="Immagine che contiene testo, schermata, software, Software multimediale&#10;&#10;Descrizione generata automaticamente">
            <a:extLst>
              <a:ext uri="{FF2B5EF4-FFF2-40B4-BE49-F238E27FC236}">
                <a16:creationId xmlns:a16="http://schemas.microsoft.com/office/drawing/2014/main" id="{482D77DD-D5E9-E092-252D-40A4ECB3D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321" y="2266422"/>
            <a:ext cx="8130309" cy="3292774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A5CBE00D-2CE1-3A19-B143-E45824CE5676}"/>
              </a:ext>
            </a:extLst>
          </p:cNvPr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FA56C8C9-7A6C-0CE2-99A6-1BD06E898C13}"/>
              </a:ext>
            </a:extLst>
          </p:cNvPr>
          <p:cNvSpPr txBox="1">
            <a:spLocks/>
          </p:cNvSpPr>
          <p:nvPr/>
        </p:nvSpPr>
        <p:spPr>
          <a:xfrm>
            <a:off x="0" y="116544"/>
            <a:ext cx="12191999" cy="587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ESPLORAZIONE E GESTIONE DEI DATI FINALIZZATE ALLA MANUTENZIONE PREDITTIVA </a:t>
            </a:r>
          </a:p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NELL’INDUSTRIA SIDERURGICA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5F0ACD3E-CCC4-50AC-A8DD-E95F419DF652}"/>
              </a:ext>
            </a:extLst>
          </p:cNvPr>
          <p:cNvSpPr/>
          <p:nvPr/>
        </p:nvSpPr>
        <p:spPr>
          <a:xfrm>
            <a:off x="0" y="6048375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Segnaposto numero diapositiva 10">
            <a:extLst>
              <a:ext uri="{FF2B5EF4-FFF2-40B4-BE49-F238E27FC236}">
                <a16:creationId xmlns:a16="http://schemas.microsoft.com/office/drawing/2014/main" id="{92FE7847-D955-48F4-F8F2-C317B975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279355"/>
            <a:ext cx="2743200" cy="365125"/>
          </a:xfrm>
        </p:spPr>
        <p:txBody>
          <a:bodyPr/>
          <a:lstStyle/>
          <a:p>
            <a:fld id="{4F622932-1A33-4A7C-8CDC-F226463C0A5C}" type="slidenum">
              <a:rPr lang="it-IT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it-IT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olo 1">
            <a:extLst>
              <a:ext uri="{FF2B5EF4-FFF2-40B4-BE49-F238E27FC236}">
                <a16:creationId xmlns:a16="http://schemas.microsoft.com/office/drawing/2014/main" id="{81AA09EF-8A5C-1C0A-AED1-DA3B6218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394"/>
            <a:ext cx="10515600" cy="1325563"/>
          </a:xfrm>
        </p:spPr>
        <p:txBody>
          <a:bodyPr/>
          <a:lstStyle/>
          <a:p>
            <a:pPr marR="0" algn="ctr" rtl="0"/>
            <a:r>
              <a:rPr lang="it-IT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Dashboard ‘FORNO’</a:t>
            </a:r>
          </a:p>
        </p:txBody>
      </p:sp>
      <p:sp>
        <p:nvSpPr>
          <p:cNvPr id="3" name="Segnaposto piè di pagina 9">
            <a:extLst>
              <a:ext uri="{FF2B5EF4-FFF2-40B4-BE49-F238E27FC236}">
                <a16:creationId xmlns:a16="http://schemas.microsoft.com/office/drawing/2014/main" id="{5476614B-ECF4-C287-68E4-59A8ADFC0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1" y="6159500"/>
            <a:ext cx="7848599" cy="587374"/>
          </a:xfrm>
        </p:spPr>
        <p:txBody>
          <a:bodyPr/>
          <a:lstStyle/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MERGONI – MATR. 736132</a:t>
            </a:r>
          </a:p>
        </p:txBody>
      </p:sp>
    </p:spTree>
    <p:extLst>
      <p:ext uri="{BB962C8B-B14F-4D97-AF65-F5344CB8AC3E}">
        <p14:creationId xmlns:p14="http://schemas.microsoft.com/office/powerpoint/2010/main" val="325269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9AD2864-710D-E28D-3856-2DD634DB87FF}"/>
              </a:ext>
            </a:extLst>
          </p:cNvPr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48B95C90-3F1F-4813-6AEB-256B3A4ECE45}"/>
              </a:ext>
            </a:extLst>
          </p:cNvPr>
          <p:cNvSpPr txBox="1">
            <a:spLocks/>
          </p:cNvSpPr>
          <p:nvPr/>
        </p:nvSpPr>
        <p:spPr>
          <a:xfrm>
            <a:off x="0" y="116544"/>
            <a:ext cx="12191999" cy="587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ESPLORAZIONE E GESTIONE DEI DATI FINALIZZATE ALLA MANUTENZIONE PREDITTIVA </a:t>
            </a:r>
          </a:p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NELL’INDUSTRIA SIDERURGICA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308658-28BF-2C0D-3CA3-BBAD01C9F11C}"/>
              </a:ext>
            </a:extLst>
          </p:cNvPr>
          <p:cNvSpPr/>
          <p:nvPr/>
        </p:nvSpPr>
        <p:spPr>
          <a:xfrm>
            <a:off x="0" y="6048375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Segnaposto numero diapositiva 10">
            <a:extLst>
              <a:ext uri="{FF2B5EF4-FFF2-40B4-BE49-F238E27FC236}">
                <a16:creationId xmlns:a16="http://schemas.microsoft.com/office/drawing/2014/main" id="{1191A519-91FD-05B0-852D-B0F53B811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279355"/>
            <a:ext cx="2743200" cy="365125"/>
          </a:xfrm>
        </p:spPr>
        <p:txBody>
          <a:bodyPr/>
          <a:lstStyle/>
          <a:p>
            <a:fld id="{4F622932-1A33-4A7C-8CDC-F226463C0A5C}" type="slidenum">
              <a:rPr lang="it-IT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it-IT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729E8507-3A01-EB74-9303-256F03892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394"/>
            <a:ext cx="10515600" cy="1325563"/>
          </a:xfrm>
        </p:spPr>
        <p:txBody>
          <a:bodyPr/>
          <a:lstStyle/>
          <a:p>
            <a:pPr marR="0" algn="ctr" rtl="0"/>
            <a:r>
              <a:rPr lang="it-IT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Dashboard ‘TRACKING’</a:t>
            </a:r>
          </a:p>
        </p:txBody>
      </p:sp>
      <p:pic>
        <p:nvPicPr>
          <p:cNvPr id="5" name="Immagine 4" descr="Immagine che contiene schermata, design&#10;&#10;Descrizione generata automaticamente">
            <a:extLst>
              <a:ext uri="{FF2B5EF4-FFF2-40B4-BE49-F238E27FC236}">
                <a16:creationId xmlns:a16="http://schemas.microsoft.com/office/drawing/2014/main" id="{407C3B1B-9D65-0DFE-84B5-D026CEFA4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643" y="2236206"/>
            <a:ext cx="6902714" cy="3316507"/>
          </a:xfrm>
          <a:prstGeom prst="rect">
            <a:avLst/>
          </a:prstGeom>
        </p:spPr>
      </p:pic>
      <p:sp>
        <p:nvSpPr>
          <p:cNvPr id="3" name="Segnaposto piè di pagina 9">
            <a:extLst>
              <a:ext uri="{FF2B5EF4-FFF2-40B4-BE49-F238E27FC236}">
                <a16:creationId xmlns:a16="http://schemas.microsoft.com/office/drawing/2014/main" id="{50F7D0E7-DEE4-5E36-CAF4-D3817D38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1" y="6159500"/>
            <a:ext cx="7848599" cy="587374"/>
          </a:xfrm>
        </p:spPr>
        <p:txBody>
          <a:bodyPr/>
          <a:lstStyle/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MERGONI – MATR. 736132</a:t>
            </a:r>
          </a:p>
        </p:txBody>
      </p:sp>
    </p:spTree>
    <p:extLst>
      <p:ext uri="{BB962C8B-B14F-4D97-AF65-F5344CB8AC3E}">
        <p14:creationId xmlns:p14="http://schemas.microsoft.com/office/powerpoint/2010/main" val="92159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 descr="Immagine che contiene schermata, testo, design&#10;&#10;Descrizione generata automaticamente">
            <a:extLst>
              <a:ext uri="{FF2B5EF4-FFF2-40B4-BE49-F238E27FC236}">
                <a16:creationId xmlns:a16="http://schemas.microsoft.com/office/drawing/2014/main" id="{96498851-54BE-CB2B-A096-6A53B2E01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301" y="2216369"/>
            <a:ext cx="7612349" cy="3330402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C4EDE9F1-24A1-B475-B670-752EDE585AA2}"/>
              </a:ext>
            </a:extLst>
          </p:cNvPr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75F2AAB1-15F1-3310-E0F2-DA510108378B}"/>
              </a:ext>
            </a:extLst>
          </p:cNvPr>
          <p:cNvSpPr txBox="1">
            <a:spLocks/>
          </p:cNvSpPr>
          <p:nvPr/>
        </p:nvSpPr>
        <p:spPr>
          <a:xfrm>
            <a:off x="0" y="116544"/>
            <a:ext cx="12191999" cy="587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ESPLORAZIONE E GESTIONE DEI DATI FINALIZZATE ALLA MANUTENZIONE PREDITTIVA </a:t>
            </a:r>
          </a:p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NELL’INDUSTRIA SIDERURGICA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4651D79-E313-DA92-2CF2-4AECB4EF5943}"/>
              </a:ext>
            </a:extLst>
          </p:cNvPr>
          <p:cNvSpPr/>
          <p:nvPr/>
        </p:nvSpPr>
        <p:spPr>
          <a:xfrm>
            <a:off x="0" y="6048375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Segnaposto numero diapositiva 10">
            <a:extLst>
              <a:ext uri="{FF2B5EF4-FFF2-40B4-BE49-F238E27FC236}">
                <a16:creationId xmlns:a16="http://schemas.microsoft.com/office/drawing/2014/main" id="{BC97675B-03C2-8EDA-F55E-9952D685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279355"/>
            <a:ext cx="2743200" cy="365125"/>
          </a:xfrm>
        </p:spPr>
        <p:txBody>
          <a:bodyPr/>
          <a:lstStyle/>
          <a:p>
            <a:fld id="{4F622932-1A33-4A7C-8CDC-F226463C0A5C}" type="slidenum">
              <a:rPr lang="it-IT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it-IT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FEEAE587-8DC6-A97D-23A4-FD1EA52E5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394"/>
            <a:ext cx="10515600" cy="1325563"/>
          </a:xfrm>
        </p:spPr>
        <p:txBody>
          <a:bodyPr/>
          <a:lstStyle/>
          <a:p>
            <a:pPr marR="0" algn="ctr" rtl="0"/>
            <a:r>
              <a:rPr lang="it-IT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Dashboard ‘GABBIE’</a:t>
            </a:r>
          </a:p>
        </p:txBody>
      </p:sp>
      <p:sp>
        <p:nvSpPr>
          <p:cNvPr id="3" name="Segnaposto piè di pagina 9">
            <a:extLst>
              <a:ext uri="{FF2B5EF4-FFF2-40B4-BE49-F238E27FC236}">
                <a16:creationId xmlns:a16="http://schemas.microsoft.com/office/drawing/2014/main" id="{B3C83209-056A-91A0-4169-85BBB596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1" y="6159500"/>
            <a:ext cx="7848599" cy="587374"/>
          </a:xfrm>
        </p:spPr>
        <p:txBody>
          <a:bodyPr/>
          <a:lstStyle/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MERGONI – MATR. 736132</a:t>
            </a:r>
          </a:p>
        </p:txBody>
      </p:sp>
    </p:spTree>
    <p:extLst>
      <p:ext uri="{BB962C8B-B14F-4D97-AF65-F5344CB8AC3E}">
        <p14:creationId xmlns:p14="http://schemas.microsoft.com/office/powerpoint/2010/main" val="205778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schermata, Software multimediale&#10;&#10;Descrizione generata automaticamente">
            <a:extLst>
              <a:ext uri="{FF2B5EF4-FFF2-40B4-BE49-F238E27FC236}">
                <a16:creationId xmlns:a16="http://schemas.microsoft.com/office/drawing/2014/main" id="{C636545F-4863-0354-2D8F-97E2D74C6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38243"/>
            <a:ext cx="10512547" cy="2864669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25BA0714-29AF-9AFB-6A40-C9AC47AB13C6}"/>
              </a:ext>
            </a:extLst>
          </p:cNvPr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A7C46015-9A48-C6E9-8046-E47F9809F578}"/>
              </a:ext>
            </a:extLst>
          </p:cNvPr>
          <p:cNvSpPr txBox="1">
            <a:spLocks/>
          </p:cNvSpPr>
          <p:nvPr/>
        </p:nvSpPr>
        <p:spPr>
          <a:xfrm>
            <a:off x="0" y="116544"/>
            <a:ext cx="12191999" cy="587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ESPLORAZIONE E GESTIONE DEI DATI FINALIZZATE ALLA MANUTENZIONE PREDITTIVA </a:t>
            </a:r>
          </a:p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NELL’INDUSTRIA SIDERURGICA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024ABD4-0B3F-3FC0-0C3A-0476EF697BAA}"/>
              </a:ext>
            </a:extLst>
          </p:cNvPr>
          <p:cNvSpPr/>
          <p:nvPr/>
        </p:nvSpPr>
        <p:spPr>
          <a:xfrm>
            <a:off x="0" y="6048375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Segnaposto numero diapositiva 10">
            <a:extLst>
              <a:ext uri="{FF2B5EF4-FFF2-40B4-BE49-F238E27FC236}">
                <a16:creationId xmlns:a16="http://schemas.microsoft.com/office/drawing/2014/main" id="{F5DC2BE5-6895-196E-674C-35092BD9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279355"/>
            <a:ext cx="2743200" cy="365125"/>
          </a:xfrm>
        </p:spPr>
        <p:txBody>
          <a:bodyPr/>
          <a:lstStyle/>
          <a:p>
            <a:fld id="{4F622932-1A33-4A7C-8CDC-F226463C0A5C}" type="slidenum">
              <a:rPr lang="it-IT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it-IT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5D5F2D6-2A32-29BD-15CF-7A9322361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394"/>
            <a:ext cx="10515600" cy="1325563"/>
          </a:xfrm>
        </p:spPr>
        <p:txBody>
          <a:bodyPr/>
          <a:lstStyle/>
          <a:p>
            <a:pPr marR="0" algn="ctr" rtl="0"/>
            <a:r>
              <a:rPr lang="it-IT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Dashboard ‘REPORT’</a:t>
            </a:r>
          </a:p>
        </p:txBody>
      </p:sp>
      <p:sp>
        <p:nvSpPr>
          <p:cNvPr id="3" name="Segnaposto piè di pagina 9">
            <a:extLst>
              <a:ext uri="{FF2B5EF4-FFF2-40B4-BE49-F238E27FC236}">
                <a16:creationId xmlns:a16="http://schemas.microsoft.com/office/drawing/2014/main" id="{C5258124-B282-28EF-45FF-7A9B946EE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1" y="6159500"/>
            <a:ext cx="7848599" cy="587374"/>
          </a:xfrm>
        </p:spPr>
        <p:txBody>
          <a:bodyPr/>
          <a:lstStyle/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MERGONI – MATR. 736132</a:t>
            </a:r>
          </a:p>
        </p:txBody>
      </p:sp>
    </p:spTree>
    <p:extLst>
      <p:ext uri="{BB962C8B-B14F-4D97-AF65-F5344CB8AC3E}">
        <p14:creationId xmlns:p14="http://schemas.microsoft.com/office/powerpoint/2010/main" val="172651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Segnaposto testo 2">
            <a:extLst>
              <a:ext uri="{FF2B5EF4-FFF2-40B4-BE49-F238E27FC236}">
                <a16:creationId xmlns:a16="http://schemas.microsoft.com/office/drawing/2014/main" id="{49A0032A-3551-516F-E68D-DDFBC6A187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5067505"/>
              </p:ext>
            </p:extLst>
          </p:nvPr>
        </p:nvGraphicFramePr>
        <p:xfrm>
          <a:off x="1571046" y="2427082"/>
          <a:ext cx="9049907" cy="3331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ttangolo 8">
            <a:extLst>
              <a:ext uri="{FF2B5EF4-FFF2-40B4-BE49-F238E27FC236}">
                <a16:creationId xmlns:a16="http://schemas.microsoft.com/office/drawing/2014/main" id="{323AFB9A-6065-364B-B141-FBF9D548C42B}"/>
              </a:ext>
            </a:extLst>
          </p:cNvPr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28253B1B-E93E-1007-08EB-6A1298AE47CD}"/>
              </a:ext>
            </a:extLst>
          </p:cNvPr>
          <p:cNvSpPr txBox="1">
            <a:spLocks/>
          </p:cNvSpPr>
          <p:nvPr/>
        </p:nvSpPr>
        <p:spPr>
          <a:xfrm>
            <a:off x="0" y="116544"/>
            <a:ext cx="12191999" cy="587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ESPLORAZIONE E GESTIONE DEI DATI FINALIZZATE ALLA MANUTENZIONE PREDITTIVA </a:t>
            </a:r>
          </a:p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NELL’INDUSTRIA SIDERURGICA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7C03190-9E19-208E-6621-650BB41C89B4}"/>
              </a:ext>
            </a:extLst>
          </p:cNvPr>
          <p:cNvSpPr/>
          <p:nvPr/>
        </p:nvSpPr>
        <p:spPr>
          <a:xfrm>
            <a:off x="0" y="6048375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Segnaposto numero diapositiva 10">
            <a:extLst>
              <a:ext uri="{FF2B5EF4-FFF2-40B4-BE49-F238E27FC236}">
                <a16:creationId xmlns:a16="http://schemas.microsoft.com/office/drawing/2014/main" id="{07AC9046-9603-C726-DC41-5BD7AA6A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279355"/>
            <a:ext cx="2743200" cy="365125"/>
          </a:xfrm>
        </p:spPr>
        <p:txBody>
          <a:bodyPr/>
          <a:lstStyle/>
          <a:p>
            <a:fld id="{4F622932-1A33-4A7C-8CDC-F226463C0A5C}" type="slidenum">
              <a:rPr lang="it-IT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it-IT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olo 1">
            <a:extLst>
              <a:ext uri="{FF2B5EF4-FFF2-40B4-BE49-F238E27FC236}">
                <a16:creationId xmlns:a16="http://schemas.microsoft.com/office/drawing/2014/main" id="{B2825496-9E2A-E875-24A1-F999B1E4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394"/>
            <a:ext cx="10515600" cy="1325563"/>
          </a:xfrm>
        </p:spPr>
        <p:txBody>
          <a:bodyPr/>
          <a:lstStyle/>
          <a:p>
            <a:pPr marR="0" algn="ctr" rtl="0"/>
            <a:r>
              <a:rPr lang="it-IT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Risultati</a:t>
            </a:r>
          </a:p>
        </p:txBody>
      </p:sp>
      <p:sp>
        <p:nvSpPr>
          <p:cNvPr id="3" name="Segnaposto piè di pagina 9">
            <a:extLst>
              <a:ext uri="{FF2B5EF4-FFF2-40B4-BE49-F238E27FC236}">
                <a16:creationId xmlns:a16="http://schemas.microsoft.com/office/drawing/2014/main" id="{9E83D0F2-A6A5-5546-A3F8-87358C390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1" y="6159500"/>
            <a:ext cx="7848599" cy="587374"/>
          </a:xfrm>
        </p:spPr>
        <p:txBody>
          <a:bodyPr/>
          <a:lstStyle/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MERGONI – MATR. 736132</a:t>
            </a:r>
          </a:p>
        </p:txBody>
      </p:sp>
    </p:spTree>
    <p:extLst>
      <p:ext uri="{BB962C8B-B14F-4D97-AF65-F5344CB8AC3E}">
        <p14:creationId xmlns:p14="http://schemas.microsoft.com/office/powerpoint/2010/main" val="174837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Segnaposto testo 2">
            <a:extLst>
              <a:ext uri="{FF2B5EF4-FFF2-40B4-BE49-F238E27FC236}">
                <a16:creationId xmlns:a16="http://schemas.microsoft.com/office/drawing/2014/main" id="{49A0032A-3551-516F-E68D-DDFBC6A187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8664328"/>
              </p:ext>
            </p:extLst>
          </p:nvPr>
        </p:nvGraphicFramePr>
        <p:xfrm>
          <a:off x="1330466" y="2175005"/>
          <a:ext cx="9528018" cy="3869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ttangolo 8">
            <a:extLst>
              <a:ext uri="{FF2B5EF4-FFF2-40B4-BE49-F238E27FC236}">
                <a16:creationId xmlns:a16="http://schemas.microsoft.com/office/drawing/2014/main" id="{B6C42959-5F10-E72F-4E17-9F9FCF437C44}"/>
              </a:ext>
            </a:extLst>
          </p:cNvPr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D034B830-7DCC-330A-82CF-AC306499D002}"/>
              </a:ext>
            </a:extLst>
          </p:cNvPr>
          <p:cNvSpPr txBox="1">
            <a:spLocks/>
          </p:cNvSpPr>
          <p:nvPr/>
        </p:nvSpPr>
        <p:spPr>
          <a:xfrm>
            <a:off x="0" y="116544"/>
            <a:ext cx="12191999" cy="587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ESPLORAZIONE E GESTIONE DEI DATI FINALIZZATE ALLA MANUTENZIONE PREDITTIVA </a:t>
            </a:r>
          </a:p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NELL’INDUSTRIA SIDERURGICA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6803DED7-9481-3997-BE1A-9711B80479D2}"/>
              </a:ext>
            </a:extLst>
          </p:cNvPr>
          <p:cNvSpPr/>
          <p:nvPr/>
        </p:nvSpPr>
        <p:spPr>
          <a:xfrm>
            <a:off x="0" y="6048375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Segnaposto numero diapositiva 10">
            <a:extLst>
              <a:ext uri="{FF2B5EF4-FFF2-40B4-BE49-F238E27FC236}">
                <a16:creationId xmlns:a16="http://schemas.microsoft.com/office/drawing/2014/main" id="{F6F6127D-4902-61B6-422C-9D0B08594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279355"/>
            <a:ext cx="2743200" cy="365125"/>
          </a:xfrm>
        </p:spPr>
        <p:txBody>
          <a:bodyPr/>
          <a:lstStyle/>
          <a:p>
            <a:fld id="{4F622932-1A33-4A7C-8CDC-F226463C0A5C}" type="slidenum">
              <a:rPr lang="it-IT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it-IT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olo 1">
            <a:extLst>
              <a:ext uri="{FF2B5EF4-FFF2-40B4-BE49-F238E27FC236}">
                <a16:creationId xmlns:a16="http://schemas.microsoft.com/office/drawing/2014/main" id="{53319683-FF46-5435-1D20-198F833D3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394"/>
            <a:ext cx="10515600" cy="1325563"/>
          </a:xfrm>
        </p:spPr>
        <p:txBody>
          <a:bodyPr/>
          <a:lstStyle/>
          <a:p>
            <a:pPr marR="0" algn="ctr" rtl="0"/>
            <a:r>
              <a:rPr lang="it-IT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Sviluppi futuri</a:t>
            </a:r>
          </a:p>
        </p:txBody>
      </p:sp>
      <p:sp>
        <p:nvSpPr>
          <p:cNvPr id="3" name="Segnaposto piè di pagina 9">
            <a:extLst>
              <a:ext uri="{FF2B5EF4-FFF2-40B4-BE49-F238E27FC236}">
                <a16:creationId xmlns:a16="http://schemas.microsoft.com/office/drawing/2014/main" id="{E99E6787-CC63-8D39-A3C4-9D56AE51F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1" y="6159500"/>
            <a:ext cx="7848599" cy="587374"/>
          </a:xfrm>
        </p:spPr>
        <p:txBody>
          <a:bodyPr/>
          <a:lstStyle/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MERGONI – MATR. 736132</a:t>
            </a:r>
          </a:p>
        </p:txBody>
      </p:sp>
    </p:spTree>
    <p:extLst>
      <p:ext uri="{BB962C8B-B14F-4D97-AF65-F5344CB8AC3E}">
        <p14:creationId xmlns:p14="http://schemas.microsoft.com/office/powerpoint/2010/main" val="319398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A92F50-CC9F-9E7D-F97C-B297619C8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864" y="2891812"/>
            <a:ext cx="7708271" cy="1074376"/>
          </a:xfrm>
        </p:spPr>
        <p:txBody>
          <a:bodyPr/>
          <a:lstStyle/>
          <a:p>
            <a:pPr marR="0" algn="ctr" rtl="0"/>
            <a:r>
              <a:rPr lang="it-IT" b="0" i="0" u="none" strike="noStrike" kern="100" baseline="0" dirty="0">
                <a:latin typeface="Arial" panose="020B0604020202020204" pitchFamily="34" charset="0"/>
                <a:cs typeface="Arial" panose="020B0604020202020204" pitchFamily="34" charset="0"/>
              </a:rPr>
              <a:t>Grazie per l’attenzione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0E8DBD9-B0A5-3892-B89F-CC55E2BA921C}"/>
              </a:ext>
            </a:extLst>
          </p:cNvPr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Segnaposto piè di pagina 9">
            <a:extLst>
              <a:ext uri="{FF2B5EF4-FFF2-40B4-BE49-F238E27FC236}">
                <a16:creationId xmlns:a16="http://schemas.microsoft.com/office/drawing/2014/main" id="{693CCEED-2397-8BEB-4482-E50E4719709B}"/>
              </a:ext>
            </a:extLst>
          </p:cNvPr>
          <p:cNvSpPr txBox="1">
            <a:spLocks/>
          </p:cNvSpPr>
          <p:nvPr/>
        </p:nvSpPr>
        <p:spPr>
          <a:xfrm>
            <a:off x="0" y="116544"/>
            <a:ext cx="12191999" cy="587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ESPLORAZIONE E GESTIONE DEI DATI FINALIZZATE ALLA MANUTENZIONE PREDITTIVA </a:t>
            </a:r>
          </a:p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NELL’INDUSTRIA SIDERURGICA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9FC05E8-1E60-DA03-CAEA-D73E30154404}"/>
              </a:ext>
            </a:extLst>
          </p:cNvPr>
          <p:cNvSpPr/>
          <p:nvPr/>
        </p:nvSpPr>
        <p:spPr>
          <a:xfrm>
            <a:off x="0" y="6048375"/>
            <a:ext cx="12192000" cy="809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Segnaposto piè di pagina 9">
            <a:extLst>
              <a:ext uri="{FF2B5EF4-FFF2-40B4-BE49-F238E27FC236}">
                <a16:creationId xmlns:a16="http://schemas.microsoft.com/office/drawing/2014/main" id="{9079DCAF-9985-B712-C1CC-C7C11F3A1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1" y="6159500"/>
            <a:ext cx="7848599" cy="587374"/>
          </a:xfrm>
        </p:spPr>
        <p:txBody>
          <a:bodyPr/>
          <a:lstStyle/>
          <a:p>
            <a:r>
              <a:rPr lang="it-I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MERGONI – MATR. 736132</a:t>
            </a:r>
          </a:p>
        </p:txBody>
      </p:sp>
      <p:sp>
        <p:nvSpPr>
          <p:cNvPr id="12" name="Segnaposto numero diapositiva 10">
            <a:extLst>
              <a:ext uri="{FF2B5EF4-FFF2-40B4-BE49-F238E27FC236}">
                <a16:creationId xmlns:a16="http://schemas.microsoft.com/office/drawing/2014/main" id="{18C1DBAF-3176-A7E8-6C3F-16BD3DDDF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279355"/>
            <a:ext cx="2743200" cy="365125"/>
          </a:xfrm>
        </p:spPr>
        <p:txBody>
          <a:bodyPr/>
          <a:lstStyle/>
          <a:p>
            <a:fld id="{4F622932-1A33-4A7C-8CDC-F226463C0A5C}" type="slidenum">
              <a:rPr lang="it-IT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it-IT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02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5358</TotalTime>
  <Words>566</Words>
  <Application>Microsoft Office PowerPoint</Application>
  <PresentationFormat>Widescreen</PresentationFormat>
  <Paragraphs>107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Tema di Office</vt:lpstr>
      <vt:lpstr> ESPLORAZIONE E GESTIONE DEI DATI  FINALIZZATE ALLA MANUTENZIONE PREDITTIVA NELL’INDUSTRIA SIDERURGICA </vt:lpstr>
      <vt:lpstr>Obiettivi della relazione</vt:lpstr>
      <vt:lpstr>Industrial IoT</vt:lpstr>
      <vt:lpstr>Il laminatoio</vt:lpstr>
      <vt:lpstr>Componenti del progetto</vt:lpstr>
      <vt:lpstr>Virtualizzazione con Docker</vt:lpstr>
      <vt:lpstr>Sviluppo in simulazione</vt:lpstr>
      <vt:lpstr>Implementazione del sistema</vt:lpstr>
      <vt:lpstr>Dashboard ‘FORNO’</vt:lpstr>
      <vt:lpstr>Dashboard ‘TRACKING’</vt:lpstr>
      <vt:lpstr>Dashboard ‘GABBIE’</vt:lpstr>
      <vt:lpstr>Dashboard ‘REPORT’</vt:lpstr>
      <vt:lpstr>Risultati</vt:lpstr>
      <vt:lpstr>Sviluppi futuri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mergoni</dc:creator>
  <cp:lastModifiedBy>alberto mergoni</cp:lastModifiedBy>
  <cp:revision>42</cp:revision>
  <dcterms:created xsi:type="dcterms:W3CDTF">2024-06-27T09:49:13Z</dcterms:created>
  <dcterms:modified xsi:type="dcterms:W3CDTF">2024-07-15T10:21:21Z</dcterms:modified>
</cp:coreProperties>
</file>